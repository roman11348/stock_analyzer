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rts/chart1.xml" ContentType="application/vnd.openxmlformats-officedocument.drawingml.chart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72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6" d="100"/>
          <a:sy n="66" d="100"/>
        </p:scale>
        <p:origin x="64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F1-score</c:v>
                </c:pt>
              </c:strCache>
            </c:strRef>
          </c:tx>
          <c:spPr>
            <a:solidFill>
              <a:srgbClr val="22C55E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1AD7-45CB-AE6A-7993E6DF8CB8}"/>
              </c:ext>
            </c:extLst>
          </c:dPt>
          <c:dPt>
            <c:idx val="1"/>
            <c:invertIfNegative val="0"/>
            <c:bubble3D val="0"/>
            <c:spPr>
              <a:solidFill>
                <a:srgbClr val="2DD4B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1AD7-45CB-AE6A-7993E6DF8CB8}"/>
              </c:ext>
            </c:extLst>
          </c:dPt>
          <c:dPt>
            <c:idx val="2"/>
            <c:invertIfNegative val="0"/>
            <c:bubble3D val="0"/>
            <c:spPr>
              <a:solidFill>
                <a:srgbClr val="0F766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1AD7-45CB-AE6A-7993E6DF8CB8}"/>
              </c:ext>
            </c:extLst>
          </c:dPt>
          <c:dPt>
            <c:idx val="3"/>
            <c:invertIfNegative val="0"/>
            <c:bubble3D val="0"/>
            <c:spPr>
              <a:solidFill>
                <a:srgbClr val="7C8AA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1AD7-45CB-AE6A-7993E6DF8CB8}"/>
              </c:ext>
            </c:extLst>
          </c:dPt>
          <c:dLbls>
            <c:delete val="1"/>
          </c:dLbls>
          <c:cat>
            <c:strRef>
              <c:f>Sheet1!$A$2:$A$5</c:f>
              <c:strCache>
                <c:ptCount val="4"/>
                <c:pt idx="0">
                  <c:v>Random Forest</c:v>
                </c:pt>
                <c:pt idx="1">
                  <c:v>Decision Tree</c:v>
                </c:pt>
                <c:pt idx="2">
                  <c:v>SVM</c:v>
                </c:pt>
                <c:pt idx="3">
                  <c:v>KNN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0.96299999999999997</c:v>
                </c:pt>
                <c:pt idx="1">
                  <c:v>0.92100000000000004</c:v>
                </c:pt>
                <c:pt idx="2">
                  <c:v>0.90800000000000003</c:v>
                </c:pt>
                <c:pt idx="3">
                  <c:v>0.89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1AD7-45CB-AE6A-7993E6DF8CB8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334155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CBD5E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"/>
          <c:min val="0.8"/>
        </c:scaling>
        <c:delete val="0"/>
        <c:axPos val="l"/>
        <c:majorGridlines>
          <c:spPr>
            <a:ln w="9525" cap="flat">
              <a:solidFill>
                <a:srgbClr val="1E293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334155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CBD5E1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0B1220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0B1220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014484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9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3.png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17.png"/><Relationship Id="rId4" Type="http://schemas.openxmlformats.org/officeDocument/2006/relationships/image" Target="../media/image1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5422392"/>
            <a:ext cx="0" cy="658368"/>
          </a:xfrm>
          <a:prstGeom prst="line">
            <a:avLst/>
          </a:prstGeom>
          <a:noFill/>
          <a:ln w="15875">
            <a:solidFill>
              <a:srgbClr val="22C55E">
                <a:alpha val="2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83464" y="5532120"/>
            <a:ext cx="73152" cy="457200"/>
          </a:xfrm>
          <a:prstGeom prst="rect">
            <a:avLst/>
          </a:prstGeom>
          <a:solidFill>
            <a:srgbClr val="22C55E">
              <a:alpha val="2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18372" y="5148072"/>
            <a:ext cx="0" cy="932688"/>
          </a:xfrm>
          <a:prstGeom prst="line">
            <a:avLst/>
          </a:prstGeom>
          <a:noFill/>
          <a:ln w="15875">
            <a:solidFill>
              <a:srgbClr val="F87171">
                <a:alpha val="2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1796" y="5257800"/>
            <a:ext cx="73152" cy="731520"/>
          </a:xfrm>
          <a:prstGeom prst="rect">
            <a:avLst/>
          </a:prstGeom>
          <a:solidFill>
            <a:srgbClr val="F87171">
              <a:alpha val="22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116703" y="5559552"/>
            <a:ext cx="0" cy="521208"/>
          </a:xfrm>
          <a:prstGeom prst="line">
            <a:avLst/>
          </a:prstGeom>
          <a:noFill/>
          <a:ln w="15875">
            <a:solidFill>
              <a:srgbClr val="22C55E">
                <a:alpha val="22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80127" y="5669280"/>
            <a:ext cx="73152" cy="320040"/>
          </a:xfrm>
          <a:prstGeom prst="rect">
            <a:avLst/>
          </a:prstGeom>
          <a:solidFill>
            <a:srgbClr val="22C55E">
              <a:alpha val="22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515035" y="4965192"/>
            <a:ext cx="0" cy="1115568"/>
          </a:xfrm>
          <a:prstGeom prst="line">
            <a:avLst/>
          </a:prstGeom>
          <a:noFill/>
          <a:ln w="15875">
            <a:solidFill>
              <a:srgbClr val="F87171">
                <a:alpha val="22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478459" y="5074920"/>
            <a:ext cx="73152" cy="914400"/>
          </a:xfrm>
          <a:prstGeom prst="rect">
            <a:avLst/>
          </a:prstGeom>
          <a:solidFill>
            <a:srgbClr val="F87171">
              <a:alpha val="22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913366" y="5330952"/>
            <a:ext cx="0" cy="749808"/>
          </a:xfrm>
          <a:prstGeom prst="line">
            <a:avLst/>
          </a:prstGeom>
          <a:noFill/>
          <a:ln w="15875">
            <a:solidFill>
              <a:srgbClr val="22C55E">
                <a:alpha val="22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876790" y="5440680"/>
            <a:ext cx="73152" cy="548640"/>
          </a:xfrm>
          <a:prstGeom prst="rect">
            <a:avLst/>
          </a:prstGeom>
          <a:solidFill>
            <a:srgbClr val="22C55E">
              <a:alpha val="22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2311698" y="5056632"/>
            <a:ext cx="0" cy="1024128"/>
          </a:xfrm>
          <a:prstGeom prst="line">
            <a:avLst/>
          </a:prstGeom>
          <a:noFill/>
          <a:ln w="15875">
            <a:solidFill>
              <a:srgbClr val="F87171">
                <a:alpha val="22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275122" y="5166360"/>
            <a:ext cx="73152" cy="822960"/>
          </a:xfrm>
          <a:prstGeom prst="rect">
            <a:avLst/>
          </a:prstGeom>
          <a:solidFill>
            <a:srgbClr val="F87171">
              <a:alpha val="22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2710029" y="5468112"/>
            <a:ext cx="0" cy="612648"/>
          </a:xfrm>
          <a:prstGeom prst="line">
            <a:avLst/>
          </a:prstGeom>
          <a:noFill/>
          <a:ln w="15875">
            <a:solidFill>
              <a:srgbClr val="22C55E">
                <a:alpha val="22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673453" y="5577840"/>
            <a:ext cx="73152" cy="411480"/>
          </a:xfrm>
          <a:prstGeom prst="rect">
            <a:avLst/>
          </a:prstGeom>
          <a:solidFill>
            <a:srgbClr val="22C55E">
              <a:alpha val="22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3108361" y="5239512"/>
            <a:ext cx="0" cy="841248"/>
          </a:xfrm>
          <a:prstGeom prst="line">
            <a:avLst/>
          </a:prstGeom>
          <a:noFill/>
          <a:ln w="15875">
            <a:solidFill>
              <a:srgbClr val="F87171">
                <a:alpha val="22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071785" y="5349240"/>
            <a:ext cx="73152" cy="640080"/>
          </a:xfrm>
          <a:prstGeom prst="rect">
            <a:avLst/>
          </a:prstGeom>
          <a:solidFill>
            <a:srgbClr val="F87171">
              <a:alpha val="22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3506692" y="4873752"/>
            <a:ext cx="0" cy="1207008"/>
          </a:xfrm>
          <a:prstGeom prst="line">
            <a:avLst/>
          </a:prstGeom>
          <a:noFill/>
          <a:ln w="15875">
            <a:solidFill>
              <a:srgbClr val="22C55E">
                <a:alpha val="22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470116" y="4983480"/>
            <a:ext cx="73152" cy="1005840"/>
          </a:xfrm>
          <a:prstGeom prst="rect">
            <a:avLst/>
          </a:prstGeom>
          <a:solidFill>
            <a:srgbClr val="22C55E">
              <a:alpha val="22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3905024" y="5376672"/>
            <a:ext cx="0" cy="704088"/>
          </a:xfrm>
          <a:prstGeom prst="line">
            <a:avLst/>
          </a:prstGeom>
          <a:noFill/>
          <a:ln w="15875">
            <a:solidFill>
              <a:srgbClr val="F87171">
                <a:alpha val="22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868448" y="5486400"/>
            <a:ext cx="73152" cy="502920"/>
          </a:xfrm>
          <a:prstGeom prst="rect">
            <a:avLst/>
          </a:prstGeom>
          <a:solidFill>
            <a:srgbClr val="F87171">
              <a:alpha val="22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4303356" y="5102352"/>
            <a:ext cx="0" cy="978408"/>
          </a:xfrm>
          <a:prstGeom prst="line">
            <a:avLst/>
          </a:prstGeom>
          <a:noFill/>
          <a:ln w="15875">
            <a:solidFill>
              <a:srgbClr val="22C55E">
                <a:alpha val="22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266780" y="5212080"/>
            <a:ext cx="73152" cy="777240"/>
          </a:xfrm>
          <a:prstGeom prst="rect">
            <a:avLst/>
          </a:prstGeom>
          <a:solidFill>
            <a:srgbClr val="22C55E">
              <a:alpha val="22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4701687" y="5513832"/>
            <a:ext cx="0" cy="566928"/>
          </a:xfrm>
          <a:prstGeom prst="line">
            <a:avLst/>
          </a:prstGeom>
          <a:noFill/>
          <a:ln w="15875">
            <a:solidFill>
              <a:srgbClr val="F87171">
                <a:alpha val="22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665111" y="5623560"/>
            <a:ext cx="73152" cy="365760"/>
          </a:xfrm>
          <a:prstGeom prst="rect">
            <a:avLst/>
          </a:prstGeom>
          <a:solidFill>
            <a:srgbClr val="F87171">
              <a:alpha val="22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5100019" y="5010912"/>
            <a:ext cx="0" cy="1069848"/>
          </a:xfrm>
          <a:prstGeom prst="line">
            <a:avLst/>
          </a:prstGeom>
          <a:noFill/>
          <a:ln w="15875">
            <a:solidFill>
              <a:srgbClr val="22C55E">
                <a:alpha val="22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063443" y="5120640"/>
            <a:ext cx="73152" cy="868680"/>
          </a:xfrm>
          <a:prstGeom prst="rect">
            <a:avLst/>
          </a:prstGeom>
          <a:solidFill>
            <a:srgbClr val="22C55E">
              <a:alpha val="22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5498350" y="5330952"/>
            <a:ext cx="0" cy="749808"/>
          </a:xfrm>
          <a:prstGeom prst="line">
            <a:avLst/>
          </a:prstGeom>
          <a:noFill/>
          <a:ln w="15875">
            <a:solidFill>
              <a:srgbClr val="F87171">
                <a:alpha val="22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461774" y="5440680"/>
            <a:ext cx="73152" cy="548640"/>
          </a:xfrm>
          <a:prstGeom prst="rect">
            <a:avLst/>
          </a:prstGeom>
          <a:solidFill>
            <a:srgbClr val="F87171">
              <a:alpha val="22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5896682" y="5193792"/>
            <a:ext cx="0" cy="886968"/>
          </a:xfrm>
          <a:prstGeom prst="line">
            <a:avLst/>
          </a:prstGeom>
          <a:noFill/>
          <a:ln w="15875">
            <a:solidFill>
              <a:srgbClr val="22C55E">
                <a:alpha val="22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860106" y="5303520"/>
            <a:ext cx="73152" cy="685800"/>
          </a:xfrm>
          <a:prstGeom prst="rect">
            <a:avLst/>
          </a:prstGeom>
          <a:solidFill>
            <a:srgbClr val="22C55E">
              <a:alpha val="22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6295013" y="5422392"/>
            <a:ext cx="0" cy="658368"/>
          </a:xfrm>
          <a:prstGeom prst="line">
            <a:avLst/>
          </a:prstGeom>
          <a:noFill/>
          <a:ln w="15875">
            <a:solidFill>
              <a:srgbClr val="F87171">
                <a:alpha val="22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258437" y="5532120"/>
            <a:ext cx="73152" cy="457200"/>
          </a:xfrm>
          <a:prstGeom prst="rect">
            <a:avLst/>
          </a:prstGeom>
          <a:solidFill>
            <a:srgbClr val="F87171">
              <a:alpha val="22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6693345" y="4965192"/>
            <a:ext cx="0" cy="1115568"/>
          </a:xfrm>
          <a:prstGeom prst="line">
            <a:avLst/>
          </a:prstGeom>
          <a:noFill/>
          <a:ln w="15875">
            <a:solidFill>
              <a:srgbClr val="22C55E">
                <a:alpha val="22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656769" y="5074920"/>
            <a:ext cx="73152" cy="914400"/>
          </a:xfrm>
          <a:prstGeom prst="rect">
            <a:avLst/>
          </a:prstGeom>
          <a:solidFill>
            <a:srgbClr val="22C55E">
              <a:alpha val="22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7091676" y="5285232"/>
            <a:ext cx="0" cy="795528"/>
          </a:xfrm>
          <a:prstGeom prst="line">
            <a:avLst/>
          </a:prstGeom>
          <a:noFill/>
          <a:ln w="15875">
            <a:solidFill>
              <a:srgbClr val="F87171">
                <a:alpha val="22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055100" y="5394960"/>
            <a:ext cx="73152" cy="594360"/>
          </a:xfrm>
          <a:prstGeom prst="rect">
            <a:avLst/>
          </a:prstGeom>
          <a:solidFill>
            <a:srgbClr val="F87171">
              <a:alpha val="22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7490008" y="5148072"/>
            <a:ext cx="0" cy="932688"/>
          </a:xfrm>
          <a:prstGeom prst="line">
            <a:avLst/>
          </a:prstGeom>
          <a:noFill/>
          <a:ln w="15875">
            <a:solidFill>
              <a:srgbClr val="22C55E">
                <a:alpha val="22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7453432" y="5257800"/>
            <a:ext cx="73152" cy="731520"/>
          </a:xfrm>
          <a:prstGeom prst="rect">
            <a:avLst/>
          </a:prstGeom>
          <a:solidFill>
            <a:srgbClr val="22C55E">
              <a:alpha val="22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7888340" y="5513832"/>
            <a:ext cx="0" cy="566928"/>
          </a:xfrm>
          <a:prstGeom prst="line">
            <a:avLst/>
          </a:prstGeom>
          <a:noFill/>
          <a:ln w="15875">
            <a:solidFill>
              <a:srgbClr val="F87171">
                <a:alpha val="22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7851764" y="5623560"/>
            <a:ext cx="73152" cy="365760"/>
          </a:xfrm>
          <a:prstGeom prst="rect">
            <a:avLst/>
          </a:prstGeom>
          <a:solidFill>
            <a:srgbClr val="F87171">
              <a:alpha val="22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8286671" y="5056632"/>
            <a:ext cx="0" cy="1024128"/>
          </a:xfrm>
          <a:prstGeom prst="line">
            <a:avLst/>
          </a:prstGeom>
          <a:noFill/>
          <a:ln w="15875">
            <a:solidFill>
              <a:srgbClr val="22C55E">
                <a:alpha val="2200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8250095" y="5166360"/>
            <a:ext cx="73152" cy="822960"/>
          </a:xfrm>
          <a:prstGeom prst="rect">
            <a:avLst/>
          </a:prstGeom>
          <a:solidFill>
            <a:srgbClr val="22C55E">
              <a:alpha val="22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8685003" y="5376672"/>
            <a:ext cx="0" cy="704088"/>
          </a:xfrm>
          <a:prstGeom prst="line">
            <a:avLst/>
          </a:prstGeom>
          <a:noFill/>
          <a:ln w="15875">
            <a:solidFill>
              <a:srgbClr val="F87171">
                <a:alpha val="2200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8648427" y="5486400"/>
            <a:ext cx="73152" cy="502920"/>
          </a:xfrm>
          <a:prstGeom prst="rect">
            <a:avLst/>
          </a:prstGeom>
          <a:solidFill>
            <a:srgbClr val="F87171">
              <a:alpha val="22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9083334" y="5239512"/>
            <a:ext cx="0" cy="841248"/>
          </a:xfrm>
          <a:prstGeom prst="line">
            <a:avLst/>
          </a:prstGeom>
          <a:noFill/>
          <a:ln w="15875">
            <a:solidFill>
              <a:srgbClr val="22C55E">
                <a:alpha val="2200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9046758" y="5349240"/>
            <a:ext cx="73152" cy="640080"/>
          </a:xfrm>
          <a:prstGeom prst="rect">
            <a:avLst/>
          </a:prstGeom>
          <a:solidFill>
            <a:srgbClr val="22C55E">
              <a:alpha val="22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9481666" y="4919472"/>
            <a:ext cx="0" cy="1161288"/>
          </a:xfrm>
          <a:prstGeom prst="line">
            <a:avLst/>
          </a:prstGeom>
          <a:noFill/>
          <a:ln w="15875">
            <a:solidFill>
              <a:srgbClr val="F87171">
                <a:alpha val="22000"/>
              </a:srgbClr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9445090" y="5029200"/>
            <a:ext cx="73152" cy="960120"/>
          </a:xfrm>
          <a:prstGeom prst="rect">
            <a:avLst/>
          </a:prstGeom>
          <a:solidFill>
            <a:srgbClr val="F87171">
              <a:alpha val="22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9879997" y="5468112"/>
            <a:ext cx="0" cy="612648"/>
          </a:xfrm>
          <a:prstGeom prst="line">
            <a:avLst/>
          </a:prstGeom>
          <a:noFill/>
          <a:ln w="15875">
            <a:solidFill>
              <a:srgbClr val="22C55E">
                <a:alpha val="22000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9843421" y="5577840"/>
            <a:ext cx="73152" cy="411480"/>
          </a:xfrm>
          <a:prstGeom prst="rect">
            <a:avLst/>
          </a:prstGeom>
          <a:solidFill>
            <a:srgbClr val="22C55E">
              <a:alpha val="22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10278329" y="5102352"/>
            <a:ext cx="0" cy="978408"/>
          </a:xfrm>
          <a:prstGeom prst="line">
            <a:avLst/>
          </a:prstGeom>
          <a:noFill/>
          <a:ln w="15875">
            <a:solidFill>
              <a:srgbClr val="F87171">
                <a:alpha val="22000"/>
              </a:srgbClr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10241753" y="5212080"/>
            <a:ext cx="73152" cy="777240"/>
          </a:xfrm>
          <a:prstGeom prst="rect">
            <a:avLst/>
          </a:prstGeom>
          <a:solidFill>
            <a:srgbClr val="F87171">
              <a:alpha val="22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10676661" y="5330952"/>
            <a:ext cx="0" cy="749808"/>
          </a:xfrm>
          <a:prstGeom prst="line">
            <a:avLst/>
          </a:prstGeom>
          <a:noFill/>
          <a:ln w="15875">
            <a:solidFill>
              <a:srgbClr val="22C55E">
                <a:alpha val="22000"/>
              </a:srgbClr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10640085" y="5440680"/>
            <a:ext cx="73152" cy="548640"/>
          </a:xfrm>
          <a:prstGeom prst="rect">
            <a:avLst/>
          </a:prstGeom>
          <a:solidFill>
            <a:srgbClr val="22C55E">
              <a:alpha val="22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11074992" y="5193792"/>
            <a:ext cx="0" cy="886968"/>
          </a:xfrm>
          <a:prstGeom prst="line">
            <a:avLst/>
          </a:prstGeom>
          <a:noFill/>
          <a:ln w="15875">
            <a:solidFill>
              <a:srgbClr val="F87171">
                <a:alpha val="22000"/>
              </a:srgbClr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1038416" y="5303520"/>
            <a:ext cx="73152" cy="685800"/>
          </a:xfrm>
          <a:prstGeom prst="rect">
            <a:avLst/>
          </a:prstGeom>
          <a:solidFill>
            <a:srgbClr val="F87171">
              <a:alpha val="22000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11473324" y="5422392"/>
            <a:ext cx="0" cy="658368"/>
          </a:xfrm>
          <a:prstGeom prst="line">
            <a:avLst/>
          </a:prstGeom>
          <a:noFill/>
          <a:ln w="15875">
            <a:solidFill>
              <a:srgbClr val="22C55E">
                <a:alpha val="22000"/>
              </a:srgbClr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11436748" y="5532120"/>
            <a:ext cx="73152" cy="457200"/>
          </a:xfrm>
          <a:prstGeom prst="rect">
            <a:avLst/>
          </a:prstGeom>
          <a:solidFill>
            <a:srgbClr val="22C55E">
              <a:alpha val="22000"/>
            </a:srgbClr>
          </a:solidFill>
          <a:ln/>
        </p:spPr>
      </p:sp>
      <p:sp>
        <p:nvSpPr>
          <p:cNvPr id="60" name="Shape 58"/>
          <p:cNvSpPr/>
          <p:nvPr/>
        </p:nvSpPr>
        <p:spPr>
          <a:xfrm>
            <a:off x="11871655" y="5056632"/>
            <a:ext cx="0" cy="1024128"/>
          </a:xfrm>
          <a:prstGeom prst="line">
            <a:avLst/>
          </a:prstGeom>
          <a:noFill/>
          <a:ln w="15875">
            <a:solidFill>
              <a:srgbClr val="F87171">
                <a:alpha val="22000"/>
              </a:srgbClr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11835079" y="5166360"/>
            <a:ext cx="73152" cy="822960"/>
          </a:xfrm>
          <a:prstGeom prst="rect">
            <a:avLst/>
          </a:prstGeom>
          <a:solidFill>
            <a:srgbClr val="F87171">
              <a:alpha val="22000"/>
            </a:srgbClr>
          </a:solidFill>
          <a:ln/>
        </p:spPr>
      </p:sp>
      <p:sp>
        <p:nvSpPr>
          <p:cNvPr id="62" name="Text 60"/>
          <p:cNvSpPr/>
          <p:nvPr/>
        </p:nvSpPr>
        <p:spPr>
          <a:xfrm>
            <a:off x="0" y="1417320"/>
            <a:ext cx="12191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40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SUMMER TRAINING PROJECT</a:t>
            </a:r>
            <a:endParaRPr lang="en-US" sz="1300" dirty="0"/>
          </a:p>
        </p:txBody>
      </p:sp>
      <p:sp>
        <p:nvSpPr>
          <p:cNvPr id="63" name="Text 61"/>
          <p:cNvSpPr/>
          <p:nvPr/>
        </p:nvSpPr>
        <p:spPr>
          <a:xfrm>
            <a:off x="731520" y="1874520"/>
            <a:ext cx="1072865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Candlestick Pattern Recognition</a:t>
            </a:r>
            <a:endParaRPr lang="en-US" sz="4200" dirty="0"/>
          </a:p>
        </p:txBody>
      </p:sp>
      <p:sp>
        <p:nvSpPr>
          <p:cNvPr id="64" name="Text 62"/>
          <p:cNvSpPr/>
          <p:nvPr/>
        </p:nvSpPr>
        <p:spPr>
          <a:xfrm>
            <a:off x="731520" y="2788920"/>
            <a:ext cx="107286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Computer Vision and Machine Learning</a:t>
            </a:r>
            <a:endParaRPr lang="en-US" sz="1900" dirty="0"/>
          </a:p>
        </p:txBody>
      </p:sp>
      <p:sp>
        <p:nvSpPr>
          <p:cNvPr id="65" name="Text 63"/>
          <p:cNvSpPr/>
          <p:nvPr/>
        </p:nvSpPr>
        <p:spPr>
          <a:xfrm>
            <a:off x="0" y="3703320"/>
            <a:ext cx="121916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5000"/>
              </a:lnSpc>
              <a:buNone/>
            </a:pPr>
            <a:r>
              <a:rPr lang="en-US" sz="1300" dirty="0">
                <a:solidFill>
                  <a:srgbClr val="7C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[Milroman Singh</a:t>
            </a:r>
          </a:p>
          <a:p>
            <a:pPr marL="0" indent="0" algn="ctr">
              <a:lnSpc>
                <a:spcPct val="135000"/>
              </a:lnSpc>
              <a:buNone/>
            </a:pPr>
            <a:r>
              <a:rPr lang="en-US" sz="1300" dirty="0">
                <a:solidFill>
                  <a:srgbClr val="7C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Abhijeet Singh</a:t>
            </a:r>
          </a:p>
          <a:p>
            <a:pPr marL="0" indent="0" algn="ctr">
              <a:lnSpc>
                <a:spcPct val="135000"/>
              </a:lnSpc>
              <a:buNone/>
            </a:pPr>
            <a:r>
              <a:rPr lang="en-US" sz="1300" dirty="0">
                <a:solidFill>
                  <a:srgbClr val="7C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Jashanpreet Singh</a:t>
            </a:r>
          </a:p>
          <a:p>
            <a:pPr marL="0" indent="0" algn="ctr">
              <a:lnSpc>
                <a:spcPct val="135000"/>
              </a:lnSpc>
              <a:buNone/>
            </a:pPr>
            <a:r>
              <a:rPr lang="en-US" sz="1300" dirty="0">
                <a:solidFill>
                  <a:srgbClr val="7C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Jaspreet Singh]</a:t>
            </a:r>
          </a:p>
          <a:p>
            <a:pPr marL="0" indent="0" algn="ctr">
              <a:lnSpc>
                <a:spcPct val="135000"/>
              </a:lnSpc>
              <a:buNone/>
            </a:pPr>
            <a:r>
              <a:rPr lang="en-US" sz="1300" dirty="0">
                <a:solidFill>
                  <a:srgbClr val="7C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[Group 4]</a:t>
            </a:r>
            <a:endParaRPr lang="en-US" sz="1300" dirty="0"/>
          </a:p>
          <a:p>
            <a:pPr marL="0" indent="0" algn="ctr">
              <a:lnSpc>
                <a:spcPct val="135000"/>
              </a:lnSpc>
              <a:buNone/>
            </a:pPr>
            <a:r>
              <a:rPr lang="en-US" sz="1300" dirty="0">
                <a:solidFill>
                  <a:srgbClr val="7C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Summer Training Program, 2026</a:t>
            </a:r>
            <a:endParaRPr lang="en-US" sz="1300" dirty="0"/>
          </a:p>
        </p:txBody>
      </p:sp>
      <p:sp>
        <p:nvSpPr>
          <p:cNvPr id="66" name="Text 64"/>
          <p:cNvSpPr/>
          <p:nvPr/>
        </p:nvSpPr>
        <p:spPr>
          <a:xfrm>
            <a:off x="11368735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C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we'll cover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7C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problem statement to a deployed, tested application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84048" cy="384048"/>
          </a:xfrm>
          <a:prstGeom prst="ellipse">
            <a:avLst/>
          </a:prstGeom>
          <a:solidFill>
            <a:srgbClr val="111A2C"/>
          </a:solidFill>
          <a:ln w="15875">
            <a:solidFill>
              <a:srgbClr val="2DD4B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9659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170432" y="1938528"/>
            <a:ext cx="4572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&amp; objectives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40080" y="2587752"/>
            <a:ext cx="384048" cy="384048"/>
          </a:xfrm>
          <a:prstGeom prst="ellipse">
            <a:avLst/>
          </a:prstGeom>
          <a:solidFill>
            <a:srgbClr val="111A2C"/>
          </a:solidFill>
          <a:ln w="15875">
            <a:solidFill>
              <a:srgbClr val="2DD4B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25877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170432" y="2560320"/>
            <a:ext cx="4572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generation (rule-based labeling)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640080" y="3209544"/>
            <a:ext cx="384048" cy="384048"/>
          </a:xfrm>
          <a:prstGeom prst="ellipse">
            <a:avLst/>
          </a:prstGeom>
          <a:solidFill>
            <a:srgbClr val="111A2C"/>
          </a:solidFill>
          <a:ln w="15875">
            <a:solidFill>
              <a:srgbClr val="2DD4B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32095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170432" y="3182112"/>
            <a:ext cx="4572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vision pipeline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640080" y="3831336"/>
            <a:ext cx="384048" cy="384048"/>
          </a:xfrm>
          <a:prstGeom prst="ellipse">
            <a:avLst/>
          </a:prstGeom>
          <a:solidFill>
            <a:srgbClr val="111A2C"/>
          </a:solidFill>
          <a:ln w="15875">
            <a:solidFill>
              <a:srgbClr val="2DD4B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38313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170432" y="3803904"/>
            <a:ext cx="4572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6217920" y="1965960"/>
            <a:ext cx="384048" cy="384048"/>
          </a:xfrm>
          <a:prstGeom prst="ellipse">
            <a:avLst/>
          </a:prstGeom>
          <a:solidFill>
            <a:srgbClr val="111A2C"/>
          </a:solidFill>
          <a:ln w="15875">
            <a:solidFill>
              <a:srgbClr val="2DD4B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17920" y="19659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748272" y="1938528"/>
            <a:ext cx="4572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comparison &amp; results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>
            <a:off x="6217920" y="2587752"/>
            <a:ext cx="384048" cy="384048"/>
          </a:xfrm>
          <a:prstGeom prst="ellipse">
            <a:avLst/>
          </a:prstGeom>
          <a:solidFill>
            <a:srgbClr val="111A2C"/>
          </a:solidFill>
          <a:ln w="15875">
            <a:solidFill>
              <a:srgbClr val="2DD4B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17920" y="25877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748272" y="2560320"/>
            <a:ext cx="4572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 pipeline &amp; GUI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6217920" y="3209544"/>
            <a:ext cx="384048" cy="384048"/>
          </a:xfrm>
          <a:prstGeom prst="ellipse">
            <a:avLst/>
          </a:prstGeom>
          <a:solidFill>
            <a:srgbClr val="111A2C"/>
          </a:solidFill>
          <a:ln w="15875">
            <a:solidFill>
              <a:srgbClr val="2DD4B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17920" y="32095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748272" y="3182112"/>
            <a:ext cx="4572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Testing, limitations &amp; future scope</a:t>
            </a:r>
            <a:endParaRPr lang="en-US" sz="1450" dirty="0"/>
          </a:p>
        </p:txBody>
      </p:sp>
      <p:sp>
        <p:nvSpPr>
          <p:cNvPr id="25" name="Text 23"/>
          <p:cNvSpPr/>
          <p:nvPr/>
        </p:nvSpPr>
        <p:spPr>
          <a:xfrm>
            <a:off x="11368735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C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21920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09600" y="0"/>
            <a:ext cx="10972800" cy="1219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4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</a:t>
            </a:r>
            <a:endParaRPr lang="en-US" sz="3467" dirty="0"/>
          </a:p>
        </p:txBody>
      </p:sp>
      <p:sp>
        <p:nvSpPr>
          <p:cNvPr id="4" name="Shape 2"/>
          <p:cNvSpPr/>
          <p:nvPr/>
        </p:nvSpPr>
        <p:spPr>
          <a:xfrm>
            <a:off x="487680" y="1463040"/>
            <a:ext cx="5364480" cy="201168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682496"/>
            <a:ext cx="731520" cy="731520"/>
          </a:xfrm>
          <a:prstGeom prst="ellipse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682496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467" b="1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67" dirty="0"/>
          </a:p>
        </p:txBody>
      </p:sp>
      <p:sp>
        <p:nvSpPr>
          <p:cNvPr id="7" name="Text 5"/>
          <p:cNvSpPr/>
          <p:nvPr/>
        </p:nvSpPr>
        <p:spPr>
          <a:xfrm>
            <a:off x="1645920" y="1670304"/>
            <a:ext cx="4023360" cy="463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867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867" dirty="0"/>
          </a:p>
        </p:txBody>
      </p:sp>
      <p:sp>
        <p:nvSpPr>
          <p:cNvPr id="8" name="Text 6"/>
          <p:cNvSpPr/>
          <p:nvPr/>
        </p:nvSpPr>
        <p:spPr>
          <a:xfrm>
            <a:off x="1645920" y="2133600"/>
            <a:ext cx="4023360" cy="1036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IN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extract a live stock chart for further analysis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339840" y="1463040"/>
            <a:ext cx="5364480" cy="201168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583680" y="1682496"/>
            <a:ext cx="731520" cy="731520"/>
          </a:xfrm>
          <a:prstGeom prst="ellipse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83680" y="1682496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467" b="1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67" dirty="0"/>
          </a:p>
        </p:txBody>
      </p:sp>
      <p:sp>
        <p:nvSpPr>
          <p:cNvPr id="12" name="Text 10"/>
          <p:cNvSpPr/>
          <p:nvPr/>
        </p:nvSpPr>
        <p:spPr>
          <a:xfrm>
            <a:off x="7498080" y="1670304"/>
            <a:ext cx="4023360" cy="463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867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</a:t>
            </a:r>
            <a:endParaRPr lang="en-US" sz="1867" dirty="0"/>
          </a:p>
        </p:txBody>
      </p:sp>
      <p:sp>
        <p:nvSpPr>
          <p:cNvPr id="13" name="Text 11"/>
          <p:cNvSpPr/>
          <p:nvPr/>
        </p:nvSpPr>
        <p:spPr>
          <a:xfrm>
            <a:off x="7498080" y="2133600"/>
            <a:ext cx="4023360" cy="1036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IN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identify individual candlesticks formations in the extracted chart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87680" y="3840480"/>
            <a:ext cx="5364480" cy="201168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31520" y="4059936"/>
            <a:ext cx="731520" cy="731520"/>
          </a:xfrm>
          <a:prstGeom prst="ellipse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1520" y="4059936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467" b="1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67" dirty="0"/>
          </a:p>
        </p:txBody>
      </p:sp>
      <p:sp>
        <p:nvSpPr>
          <p:cNvPr id="17" name="Text 15"/>
          <p:cNvSpPr/>
          <p:nvPr/>
        </p:nvSpPr>
        <p:spPr>
          <a:xfrm>
            <a:off x="1645920" y="4047744"/>
            <a:ext cx="4023360" cy="463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867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</a:t>
            </a:r>
            <a:endParaRPr lang="en-US" sz="1867" dirty="0"/>
          </a:p>
        </p:txBody>
      </p:sp>
      <p:sp>
        <p:nvSpPr>
          <p:cNvPr id="18" name="Text 16"/>
          <p:cNvSpPr/>
          <p:nvPr/>
        </p:nvSpPr>
        <p:spPr>
          <a:xfrm>
            <a:off x="1645920" y="4511040"/>
            <a:ext cx="4023360" cy="1036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detect and match shape of chart and classify its candlestick pattern</a:t>
            </a:r>
          </a:p>
        </p:txBody>
      </p:sp>
      <p:sp>
        <p:nvSpPr>
          <p:cNvPr id="19" name="Shape 17"/>
          <p:cNvSpPr/>
          <p:nvPr/>
        </p:nvSpPr>
        <p:spPr>
          <a:xfrm>
            <a:off x="6339840" y="3840480"/>
            <a:ext cx="5364480" cy="201168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583680" y="4059936"/>
            <a:ext cx="731520" cy="731520"/>
          </a:xfrm>
          <a:prstGeom prst="ellipse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83680" y="4059936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467" b="1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67" dirty="0"/>
          </a:p>
        </p:txBody>
      </p:sp>
      <p:sp>
        <p:nvSpPr>
          <p:cNvPr id="22" name="Text 20"/>
          <p:cNvSpPr/>
          <p:nvPr/>
        </p:nvSpPr>
        <p:spPr>
          <a:xfrm>
            <a:off x="7498080" y="4047744"/>
            <a:ext cx="4023360" cy="463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867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</a:t>
            </a:r>
            <a:endParaRPr lang="en-US" sz="1867" dirty="0"/>
          </a:p>
        </p:txBody>
      </p:sp>
      <p:sp>
        <p:nvSpPr>
          <p:cNvPr id="23" name="Text 21"/>
          <p:cNvSpPr/>
          <p:nvPr/>
        </p:nvSpPr>
        <p:spPr>
          <a:xfrm>
            <a:off x="7498080" y="4511040"/>
            <a:ext cx="4023360" cy="1036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a Bullish / Bearish / Neutral trading signal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 &amp; objectives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463040"/>
            <a:ext cx="5212080" cy="4754880"/>
          </a:xfrm>
          <a:prstGeom prst="roundRect">
            <a:avLst>
              <a:gd name="adj" fmla="val 2308"/>
            </a:avLst>
          </a:prstGeom>
          <a:solidFill>
            <a:srgbClr val="141B2D"/>
          </a:solidFill>
          <a:ln/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005840" y="1828800"/>
            <a:ext cx="548640" cy="548640"/>
          </a:xfrm>
          <a:prstGeom prst="ellipse">
            <a:avLst/>
          </a:prstGeom>
          <a:solidFill>
            <a:srgbClr val="111A2C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8486" y="1971446"/>
            <a:ext cx="263347" cy="26334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737360" y="1847088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DD4B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1005840" y="2606040"/>
            <a:ext cx="4480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Manually scanning stock charts for candlestick patterns is slow, tedious, and prone to human error — especially for traders still building pattern-recognition intuition.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1005840" y="4069080"/>
            <a:ext cx="44805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automates the process end-to-end: given a chart image or a stock ticker, the system detects the candlestick(s), classifies the pattern, and returns a trading signal.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6172200" y="1463040"/>
            <a:ext cx="5349240" cy="4754880"/>
          </a:xfrm>
          <a:prstGeom prst="roundRect">
            <a:avLst>
              <a:gd name="adj" fmla="val 2308"/>
            </a:avLst>
          </a:prstGeom>
          <a:solidFill>
            <a:srgbClr val="141B2D"/>
          </a:solidFill>
          <a:ln/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537960" y="1828800"/>
            <a:ext cx="548640" cy="548640"/>
          </a:xfrm>
          <a:prstGeom prst="ellipse">
            <a:avLst/>
          </a:prstGeom>
          <a:solidFill>
            <a:srgbClr val="111A2C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80606" y="1971446"/>
            <a:ext cx="263347" cy="263347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269480" y="1847088"/>
            <a:ext cx="3886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DD4B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Objectives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6537960" y="2606040"/>
            <a:ext cx="461772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✓"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individual candlesticks from a chart image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✓"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geometric features (body, wick ratios)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✓"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 6 candlestick patterns via ML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✓"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SVM, Random Forest, Decision Tree, KNN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✓"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image upload AND live ticker input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✓"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via a Streamlit web interface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11368735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C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Scope — six patterns, precisely defined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0058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C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pattern is defined mathematically from body-to-range and wick ratios — not eyeballed.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3423818" cy="2331720"/>
          </a:xfrm>
          <a:prstGeom prst="roundRect">
            <a:avLst>
              <a:gd name="adj" fmla="val 3922"/>
            </a:avLst>
          </a:prstGeom>
          <a:solidFill>
            <a:srgbClr val="141B2D"/>
          </a:solidFill>
          <a:ln/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351989" y="1914525"/>
            <a:ext cx="0" cy="1049274"/>
          </a:xfrm>
          <a:prstGeom prst="line">
            <a:avLst/>
          </a:prstGeom>
          <a:noFill/>
          <a:ln w="22225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15036" y="2404186"/>
            <a:ext cx="273905" cy="69952"/>
          </a:xfrm>
          <a:prstGeom prst="rect">
            <a:avLst/>
          </a:prstGeom>
          <a:solidFill>
            <a:srgbClr val="CBD5E1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3273552"/>
            <a:ext cx="314949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Doji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777240" y="3602736"/>
            <a:ext cx="31494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Neutral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383938" y="1600200"/>
            <a:ext cx="3423818" cy="2331720"/>
          </a:xfrm>
          <a:prstGeom prst="roundRect">
            <a:avLst>
              <a:gd name="adj" fmla="val 3922"/>
            </a:avLst>
          </a:prstGeom>
          <a:solidFill>
            <a:srgbClr val="141B2D"/>
          </a:solidFill>
          <a:ln/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095848" y="1914525"/>
            <a:ext cx="0" cy="1049274"/>
          </a:xfrm>
          <a:prstGeom prst="line">
            <a:avLst/>
          </a:prstGeom>
          <a:noFill/>
          <a:ln w="22225">
            <a:solidFill>
              <a:srgbClr val="22C55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839061" y="1949501"/>
            <a:ext cx="513573" cy="233172"/>
          </a:xfrm>
          <a:prstGeom prst="rect">
            <a:avLst/>
          </a:prstGeom>
          <a:solidFill>
            <a:srgbClr val="22C55E"/>
          </a:solidFill>
          <a:ln w="9525">
            <a:solidFill>
              <a:srgbClr val="22C55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21098" y="3273552"/>
            <a:ext cx="314949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Hammer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4521098" y="3602736"/>
            <a:ext cx="31494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Bullish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127797" y="1600200"/>
            <a:ext cx="3423818" cy="2331720"/>
          </a:xfrm>
          <a:prstGeom prst="roundRect">
            <a:avLst>
              <a:gd name="adj" fmla="val 3922"/>
            </a:avLst>
          </a:prstGeom>
          <a:solidFill>
            <a:srgbClr val="141B2D"/>
          </a:solidFill>
          <a:ln/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9839706" y="1914525"/>
            <a:ext cx="0" cy="1049274"/>
          </a:xfrm>
          <a:prstGeom prst="line">
            <a:avLst/>
          </a:prstGeom>
          <a:noFill/>
          <a:ln w="22225">
            <a:solidFill>
              <a:srgbClr val="F8717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582920" y="2695651"/>
            <a:ext cx="513573" cy="233172"/>
          </a:xfrm>
          <a:prstGeom prst="rect">
            <a:avLst/>
          </a:prstGeom>
          <a:solidFill>
            <a:srgbClr val="F87171"/>
          </a:solidFill>
          <a:ln w="9525">
            <a:solidFill>
              <a:srgbClr val="F8717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64957" y="3273552"/>
            <a:ext cx="314949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Shooting Star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8264957" y="3602736"/>
            <a:ext cx="31494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Bearish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40080" y="4251960"/>
            <a:ext cx="3423818" cy="2331720"/>
          </a:xfrm>
          <a:prstGeom prst="roundRect">
            <a:avLst>
              <a:gd name="adj" fmla="val 3922"/>
            </a:avLst>
          </a:prstGeom>
          <a:solidFill>
            <a:srgbClr val="141B2D"/>
          </a:solidFill>
          <a:ln/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351989" y="4601261"/>
            <a:ext cx="0" cy="979322"/>
          </a:xfrm>
          <a:prstGeom prst="line">
            <a:avLst/>
          </a:prstGeom>
          <a:noFill/>
          <a:ln w="22225">
            <a:solidFill>
              <a:srgbClr val="CBD5E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095203" y="4951019"/>
            <a:ext cx="513573" cy="279806"/>
          </a:xfrm>
          <a:prstGeom prst="rect">
            <a:avLst/>
          </a:prstGeom>
          <a:solidFill>
            <a:srgbClr val="CBD5E1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" y="5925312"/>
            <a:ext cx="314949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Spinning Top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777240" y="6254496"/>
            <a:ext cx="31494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Neutral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383938" y="4251960"/>
            <a:ext cx="3423818" cy="2331720"/>
          </a:xfrm>
          <a:prstGeom prst="roundRect">
            <a:avLst>
              <a:gd name="adj" fmla="val 3922"/>
            </a:avLst>
          </a:prstGeom>
          <a:solidFill>
            <a:srgbClr val="141B2D"/>
          </a:solidFill>
          <a:ln/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719228" y="4857750"/>
            <a:ext cx="0" cy="443027"/>
          </a:xfrm>
          <a:prstGeom prst="line">
            <a:avLst/>
          </a:prstGeom>
          <a:noFill/>
          <a:ln w="22225">
            <a:solidFill>
              <a:srgbClr val="F8717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530918" y="4974336"/>
            <a:ext cx="376620" cy="209855"/>
          </a:xfrm>
          <a:prstGeom prst="rect">
            <a:avLst/>
          </a:prstGeom>
          <a:solidFill>
            <a:srgbClr val="F87171"/>
          </a:solidFill>
          <a:ln w="9525">
            <a:solidFill>
              <a:srgbClr val="F8717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369753" y="4682871"/>
            <a:ext cx="0" cy="816102"/>
          </a:xfrm>
          <a:prstGeom prst="line">
            <a:avLst/>
          </a:prstGeom>
          <a:noFill/>
          <a:ln w="22225">
            <a:solidFill>
              <a:srgbClr val="22C55E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147205" y="4764481"/>
            <a:ext cx="445096" cy="652882"/>
          </a:xfrm>
          <a:prstGeom prst="rect">
            <a:avLst/>
          </a:prstGeom>
          <a:solidFill>
            <a:srgbClr val="22C55E"/>
          </a:solidFill>
          <a:ln w="9525">
            <a:solidFill>
              <a:srgbClr val="22C55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21098" y="5925312"/>
            <a:ext cx="314949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Bullish Engulfing</a:t>
            </a:r>
            <a:endParaRPr lang="en-US" sz="1450" dirty="0"/>
          </a:p>
        </p:txBody>
      </p:sp>
      <p:sp>
        <p:nvSpPr>
          <p:cNvPr id="30" name="Text 28"/>
          <p:cNvSpPr/>
          <p:nvPr/>
        </p:nvSpPr>
        <p:spPr>
          <a:xfrm>
            <a:off x="4521098" y="6254496"/>
            <a:ext cx="31494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Bullish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8127797" y="4251960"/>
            <a:ext cx="3423818" cy="2331720"/>
          </a:xfrm>
          <a:prstGeom prst="roundRect">
            <a:avLst>
              <a:gd name="adj" fmla="val 3922"/>
            </a:avLst>
          </a:prstGeom>
          <a:solidFill>
            <a:srgbClr val="141B2D"/>
          </a:solidFill>
          <a:ln/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9463086" y="4857750"/>
            <a:ext cx="0" cy="443027"/>
          </a:xfrm>
          <a:prstGeom prst="line">
            <a:avLst/>
          </a:prstGeom>
          <a:noFill/>
          <a:ln w="22225">
            <a:solidFill>
              <a:srgbClr val="22C55E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9274776" y="4974336"/>
            <a:ext cx="376620" cy="209855"/>
          </a:xfrm>
          <a:prstGeom prst="rect">
            <a:avLst/>
          </a:prstGeom>
          <a:solidFill>
            <a:srgbClr val="22C55E"/>
          </a:solidFill>
          <a:ln w="9525">
            <a:solidFill>
              <a:srgbClr val="22C55E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0113611" y="4682871"/>
            <a:ext cx="0" cy="816102"/>
          </a:xfrm>
          <a:prstGeom prst="line">
            <a:avLst/>
          </a:prstGeom>
          <a:noFill/>
          <a:ln w="22225">
            <a:solidFill>
              <a:srgbClr val="F87171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9891063" y="4764481"/>
            <a:ext cx="445096" cy="652882"/>
          </a:xfrm>
          <a:prstGeom prst="rect">
            <a:avLst/>
          </a:prstGeom>
          <a:solidFill>
            <a:srgbClr val="F87171"/>
          </a:solidFill>
          <a:ln w="9525">
            <a:solidFill>
              <a:srgbClr val="F8717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264957" y="5925312"/>
            <a:ext cx="314949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Bearish Engulfing</a:t>
            </a:r>
            <a:endParaRPr lang="en-US" sz="1450" dirty="0"/>
          </a:p>
        </p:txBody>
      </p:sp>
      <p:sp>
        <p:nvSpPr>
          <p:cNvPr id="37" name="Text 35"/>
          <p:cNvSpPr/>
          <p:nvPr/>
        </p:nvSpPr>
        <p:spPr>
          <a:xfrm>
            <a:off x="8264957" y="6254496"/>
            <a:ext cx="31494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Bearish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11368735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C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Technology stack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645920"/>
            <a:ext cx="3393338" cy="1874520"/>
          </a:xfrm>
          <a:prstGeom prst="roundRect">
            <a:avLst>
              <a:gd name="adj" fmla="val 4878"/>
            </a:avLst>
          </a:prstGeom>
          <a:solidFill>
            <a:srgbClr val="141B2D"/>
          </a:solidFill>
          <a:ln/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2016709" y="1920240"/>
            <a:ext cx="640080" cy="640080"/>
          </a:xfrm>
          <a:prstGeom prst="ellipse">
            <a:avLst/>
          </a:prstGeom>
          <a:solidFill>
            <a:srgbClr val="111A2C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83130" y="2086661"/>
            <a:ext cx="307238" cy="30723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2697480"/>
            <a:ext cx="30275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OpenCV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822960" y="3063240"/>
            <a:ext cx="302757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7C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&amp; preprocessing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4399178" y="1645920"/>
            <a:ext cx="3393338" cy="1874520"/>
          </a:xfrm>
          <a:prstGeom prst="roundRect">
            <a:avLst>
              <a:gd name="adj" fmla="val 4878"/>
            </a:avLst>
          </a:prstGeom>
          <a:solidFill>
            <a:srgbClr val="141B2D"/>
          </a:solidFill>
          <a:ln/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5775808" y="1920240"/>
            <a:ext cx="640080" cy="640080"/>
          </a:xfrm>
          <a:prstGeom prst="ellipse">
            <a:avLst/>
          </a:prstGeom>
          <a:solidFill>
            <a:srgbClr val="111A2C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2228" y="2086661"/>
            <a:ext cx="307238" cy="30723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582058" y="2697480"/>
            <a:ext cx="30275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yfinance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4582058" y="3063240"/>
            <a:ext cx="302757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7C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OHLC data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8158277" y="1645920"/>
            <a:ext cx="3393338" cy="1874520"/>
          </a:xfrm>
          <a:prstGeom prst="roundRect">
            <a:avLst>
              <a:gd name="adj" fmla="val 4878"/>
            </a:avLst>
          </a:prstGeom>
          <a:solidFill>
            <a:srgbClr val="141B2D"/>
          </a:solidFill>
          <a:ln/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9534906" y="1920240"/>
            <a:ext cx="640080" cy="640080"/>
          </a:xfrm>
          <a:prstGeom prst="ellipse">
            <a:avLst/>
          </a:prstGeom>
          <a:solidFill>
            <a:srgbClr val="111A2C"/>
          </a:solidFill>
          <a:ln/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01327" y="2086661"/>
            <a:ext cx="307238" cy="307238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341157" y="2697480"/>
            <a:ext cx="30275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mplfinance</a:t>
            </a:r>
            <a:endParaRPr lang="en-US" sz="1500" dirty="0"/>
          </a:p>
        </p:txBody>
      </p:sp>
      <p:sp>
        <p:nvSpPr>
          <p:cNvPr id="17" name="Text 12"/>
          <p:cNvSpPr/>
          <p:nvPr/>
        </p:nvSpPr>
        <p:spPr>
          <a:xfrm>
            <a:off x="8341157" y="3063240"/>
            <a:ext cx="302757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7C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 rendering</a:t>
            </a:r>
            <a:endParaRPr lang="en-US" sz="1150" dirty="0"/>
          </a:p>
        </p:txBody>
      </p:sp>
      <p:sp>
        <p:nvSpPr>
          <p:cNvPr id="18" name="Shape 13"/>
          <p:cNvSpPr/>
          <p:nvPr/>
        </p:nvSpPr>
        <p:spPr>
          <a:xfrm>
            <a:off x="640080" y="3886200"/>
            <a:ext cx="3393338" cy="1874520"/>
          </a:xfrm>
          <a:prstGeom prst="roundRect">
            <a:avLst>
              <a:gd name="adj" fmla="val 4878"/>
            </a:avLst>
          </a:prstGeom>
          <a:solidFill>
            <a:srgbClr val="141B2D"/>
          </a:solidFill>
          <a:ln/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2016709" y="4160520"/>
            <a:ext cx="640080" cy="640080"/>
          </a:xfrm>
          <a:prstGeom prst="ellipse">
            <a:avLst/>
          </a:prstGeom>
          <a:solidFill>
            <a:srgbClr val="111A2C"/>
          </a:solidFill>
          <a:ln/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83130" y="4326941"/>
            <a:ext cx="307238" cy="307238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822960" y="4937760"/>
            <a:ext cx="30275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</a:t>
            </a:r>
            <a:endParaRPr lang="en-US" sz="1500" dirty="0"/>
          </a:p>
        </p:txBody>
      </p:sp>
      <p:sp>
        <p:nvSpPr>
          <p:cNvPr id="22" name="Text 16"/>
          <p:cNvSpPr/>
          <p:nvPr/>
        </p:nvSpPr>
        <p:spPr>
          <a:xfrm>
            <a:off x="822960" y="5303520"/>
            <a:ext cx="302757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7C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SVM, RF, DT, KNN</a:t>
            </a:r>
            <a:endParaRPr lang="en-US" sz="1150" dirty="0"/>
          </a:p>
        </p:txBody>
      </p:sp>
      <p:sp>
        <p:nvSpPr>
          <p:cNvPr id="23" name="Shape 17"/>
          <p:cNvSpPr/>
          <p:nvPr/>
        </p:nvSpPr>
        <p:spPr>
          <a:xfrm>
            <a:off x="4399178" y="3886200"/>
            <a:ext cx="3393338" cy="1874520"/>
          </a:xfrm>
          <a:prstGeom prst="roundRect">
            <a:avLst>
              <a:gd name="adj" fmla="val 4878"/>
            </a:avLst>
          </a:prstGeom>
          <a:solidFill>
            <a:srgbClr val="141B2D"/>
          </a:solidFill>
          <a:ln/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4" name="Shape 18"/>
          <p:cNvSpPr/>
          <p:nvPr/>
        </p:nvSpPr>
        <p:spPr>
          <a:xfrm>
            <a:off x="5775808" y="4160520"/>
            <a:ext cx="640080" cy="640080"/>
          </a:xfrm>
          <a:prstGeom prst="ellipse">
            <a:avLst/>
          </a:prstGeom>
          <a:solidFill>
            <a:srgbClr val="111A2C"/>
          </a:solidFill>
          <a:ln/>
        </p:spPr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42228" y="4326941"/>
            <a:ext cx="307238" cy="307238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4582058" y="4937760"/>
            <a:ext cx="30275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/ NumPy</a:t>
            </a:r>
            <a:endParaRPr lang="en-US" sz="1500" dirty="0"/>
          </a:p>
        </p:txBody>
      </p:sp>
      <p:sp>
        <p:nvSpPr>
          <p:cNvPr id="27" name="Text 20"/>
          <p:cNvSpPr/>
          <p:nvPr/>
        </p:nvSpPr>
        <p:spPr>
          <a:xfrm>
            <a:off x="4582058" y="5303520"/>
            <a:ext cx="302757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7C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handling</a:t>
            </a:r>
            <a:endParaRPr lang="en-US" sz="1150" dirty="0"/>
          </a:p>
        </p:txBody>
      </p:sp>
      <p:sp>
        <p:nvSpPr>
          <p:cNvPr id="28" name="Shape 21"/>
          <p:cNvSpPr/>
          <p:nvPr/>
        </p:nvSpPr>
        <p:spPr>
          <a:xfrm>
            <a:off x="8158277" y="3886200"/>
            <a:ext cx="3393338" cy="1874520"/>
          </a:xfrm>
          <a:prstGeom prst="roundRect">
            <a:avLst>
              <a:gd name="adj" fmla="val 4878"/>
            </a:avLst>
          </a:prstGeom>
          <a:solidFill>
            <a:srgbClr val="141B2D"/>
          </a:solidFill>
          <a:ln/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9" name="Shape 22"/>
          <p:cNvSpPr/>
          <p:nvPr/>
        </p:nvSpPr>
        <p:spPr>
          <a:xfrm>
            <a:off x="9534906" y="4160520"/>
            <a:ext cx="640080" cy="640080"/>
          </a:xfrm>
          <a:prstGeom prst="ellipse">
            <a:avLst/>
          </a:prstGeom>
          <a:solidFill>
            <a:srgbClr val="111A2C"/>
          </a:solidFill>
          <a:ln/>
        </p:spPr>
      </p:sp>
      <p:pic>
        <p:nvPicPr>
          <p:cNvPr id="30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701327" y="4326941"/>
            <a:ext cx="307238" cy="307238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8341157" y="4937760"/>
            <a:ext cx="30275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</a:t>
            </a:r>
            <a:endParaRPr lang="en-US" sz="1500" dirty="0"/>
          </a:p>
        </p:txBody>
      </p:sp>
      <p:sp>
        <p:nvSpPr>
          <p:cNvPr id="32" name="Text 24"/>
          <p:cNvSpPr/>
          <p:nvPr/>
        </p:nvSpPr>
        <p:spPr>
          <a:xfrm>
            <a:off x="8341157" y="5303520"/>
            <a:ext cx="302757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7C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GUI</a:t>
            </a:r>
            <a:endParaRPr lang="en-US" sz="1150" dirty="0"/>
          </a:p>
        </p:txBody>
      </p:sp>
      <p:sp>
        <p:nvSpPr>
          <p:cNvPr id="33" name="Text 25"/>
          <p:cNvSpPr/>
          <p:nvPr/>
        </p:nvSpPr>
        <p:spPr>
          <a:xfrm>
            <a:off x="11368735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C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pipeline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058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C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input modes converge into one shared detection and classification pipeline.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1605229" cy="1920240"/>
          </a:xfrm>
          <a:prstGeom prst="roundRect">
            <a:avLst>
              <a:gd name="adj" fmla="val 5696"/>
            </a:avLst>
          </a:prstGeom>
          <a:solidFill>
            <a:srgbClr val="141B2D"/>
          </a:solidFill>
          <a:ln/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150087" y="2633472"/>
            <a:ext cx="585216" cy="585216"/>
          </a:xfrm>
          <a:prstGeom prst="ellipse">
            <a:avLst/>
          </a:prstGeom>
          <a:solidFill>
            <a:srgbClr val="111A2C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2243" y="2785628"/>
            <a:ext cx="280904" cy="28090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1520" y="3429000"/>
            <a:ext cx="142234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/ Ticker input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2245309" y="3337560"/>
            <a:ext cx="256032" cy="0"/>
          </a:xfrm>
          <a:prstGeom prst="line">
            <a:avLst/>
          </a:prstGeom>
          <a:noFill/>
          <a:ln w="25400">
            <a:solidFill>
              <a:srgbClr val="2DD4BF"/>
            </a:solidFill>
            <a:prstDash val="solid"/>
            <a:tailEnd type="triangle"/>
          </a:ln>
        </p:spPr>
      </p:sp>
      <p:sp>
        <p:nvSpPr>
          <p:cNvPr id="9" name="Shape 6"/>
          <p:cNvSpPr/>
          <p:nvPr/>
        </p:nvSpPr>
        <p:spPr>
          <a:xfrm>
            <a:off x="2501341" y="2377440"/>
            <a:ext cx="1605229" cy="1920240"/>
          </a:xfrm>
          <a:prstGeom prst="roundRect">
            <a:avLst>
              <a:gd name="adj" fmla="val 5696"/>
            </a:avLst>
          </a:prstGeom>
          <a:solidFill>
            <a:srgbClr val="141B2D"/>
          </a:solidFill>
          <a:ln/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011348" y="2633472"/>
            <a:ext cx="585216" cy="585216"/>
          </a:xfrm>
          <a:prstGeom prst="ellipse">
            <a:avLst/>
          </a:prstGeom>
          <a:solidFill>
            <a:srgbClr val="111A2C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63504" y="2785628"/>
            <a:ext cx="280904" cy="28090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592781" y="3429000"/>
            <a:ext cx="142234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4106570" y="3337560"/>
            <a:ext cx="256032" cy="0"/>
          </a:xfrm>
          <a:prstGeom prst="line">
            <a:avLst/>
          </a:prstGeom>
          <a:noFill/>
          <a:ln w="25400">
            <a:solidFill>
              <a:srgbClr val="2DD4BF"/>
            </a:solidFill>
            <a:prstDash val="solid"/>
            <a:tailEnd type="triangle"/>
          </a:ln>
        </p:spPr>
      </p:sp>
      <p:sp>
        <p:nvSpPr>
          <p:cNvPr id="14" name="Shape 10"/>
          <p:cNvSpPr/>
          <p:nvPr/>
        </p:nvSpPr>
        <p:spPr>
          <a:xfrm>
            <a:off x="4362602" y="2377440"/>
            <a:ext cx="1605229" cy="1920240"/>
          </a:xfrm>
          <a:prstGeom prst="roundRect">
            <a:avLst>
              <a:gd name="adj" fmla="val 5696"/>
            </a:avLst>
          </a:prstGeom>
          <a:solidFill>
            <a:srgbClr val="141B2D"/>
          </a:solidFill>
          <a:ln/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4872609" y="2633472"/>
            <a:ext cx="585216" cy="585216"/>
          </a:xfrm>
          <a:prstGeom prst="ellipse">
            <a:avLst/>
          </a:prstGeom>
          <a:solidFill>
            <a:srgbClr val="111A2C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4765" y="2785628"/>
            <a:ext cx="280904" cy="28090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4454042" y="3429000"/>
            <a:ext cx="142234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Candlestick detection</a:t>
            </a:r>
            <a:endParaRPr lang="en-US" sz="1250" dirty="0"/>
          </a:p>
        </p:txBody>
      </p:sp>
      <p:sp>
        <p:nvSpPr>
          <p:cNvPr id="18" name="Shape 13"/>
          <p:cNvSpPr/>
          <p:nvPr/>
        </p:nvSpPr>
        <p:spPr>
          <a:xfrm>
            <a:off x="5967832" y="3337560"/>
            <a:ext cx="256032" cy="0"/>
          </a:xfrm>
          <a:prstGeom prst="line">
            <a:avLst/>
          </a:prstGeom>
          <a:noFill/>
          <a:ln w="25400">
            <a:solidFill>
              <a:srgbClr val="2DD4BF"/>
            </a:solidFill>
            <a:prstDash val="solid"/>
            <a:tailEnd type="triangle"/>
          </a:ln>
        </p:spPr>
      </p:sp>
      <p:sp>
        <p:nvSpPr>
          <p:cNvPr id="19" name="Shape 14"/>
          <p:cNvSpPr/>
          <p:nvPr/>
        </p:nvSpPr>
        <p:spPr>
          <a:xfrm>
            <a:off x="6223864" y="2377440"/>
            <a:ext cx="1605229" cy="1920240"/>
          </a:xfrm>
          <a:prstGeom prst="roundRect">
            <a:avLst>
              <a:gd name="adj" fmla="val 5696"/>
            </a:avLst>
          </a:prstGeom>
          <a:solidFill>
            <a:srgbClr val="141B2D"/>
          </a:solidFill>
          <a:ln/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733870" y="2633472"/>
            <a:ext cx="585216" cy="585216"/>
          </a:xfrm>
          <a:prstGeom prst="ellipse">
            <a:avLst/>
          </a:prstGeom>
          <a:solidFill>
            <a:srgbClr val="111A2C"/>
          </a:solidFill>
          <a:ln/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86026" y="2785628"/>
            <a:ext cx="280904" cy="28090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315304" y="3429000"/>
            <a:ext cx="142234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extraction</a:t>
            </a:r>
            <a:endParaRPr lang="en-US" sz="1250" dirty="0"/>
          </a:p>
        </p:txBody>
      </p:sp>
      <p:sp>
        <p:nvSpPr>
          <p:cNvPr id="23" name="Shape 17"/>
          <p:cNvSpPr/>
          <p:nvPr/>
        </p:nvSpPr>
        <p:spPr>
          <a:xfrm>
            <a:off x="7829093" y="3337560"/>
            <a:ext cx="256032" cy="0"/>
          </a:xfrm>
          <a:prstGeom prst="line">
            <a:avLst/>
          </a:prstGeom>
          <a:noFill/>
          <a:ln w="25400">
            <a:solidFill>
              <a:srgbClr val="2DD4BF"/>
            </a:solidFill>
            <a:prstDash val="solid"/>
            <a:tailEnd type="triangle"/>
          </a:ln>
        </p:spPr>
      </p:sp>
      <p:sp>
        <p:nvSpPr>
          <p:cNvPr id="24" name="Shape 18"/>
          <p:cNvSpPr/>
          <p:nvPr/>
        </p:nvSpPr>
        <p:spPr>
          <a:xfrm>
            <a:off x="8085125" y="2377440"/>
            <a:ext cx="1605229" cy="1920240"/>
          </a:xfrm>
          <a:prstGeom prst="roundRect">
            <a:avLst>
              <a:gd name="adj" fmla="val 5696"/>
            </a:avLst>
          </a:prstGeom>
          <a:solidFill>
            <a:srgbClr val="141B2D"/>
          </a:solidFill>
          <a:ln/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8595131" y="2633472"/>
            <a:ext cx="585216" cy="585216"/>
          </a:xfrm>
          <a:prstGeom prst="ellipse">
            <a:avLst/>
          </a:prstGeom>
          <a:solidFill>
            <a:srgbClr val="111A2C"/>
          </a:solidFill>
          <a:ln/>
        </p:spPr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47288" y="2785628"/>
            <a:ext cx="280904" cy="280904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8176565" y="3429000"/>
            <a:ext cx="142234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model</a:t>
            </a:r>
            <a:endParaRPr lang="en-US" sz="1250" dirty="0"/>
          </a:p>
        </p:txBody>
      </p:sp>
      <p:sp>
        <p:nvSpPr>
          <p:cNvPr id="28" name="Shape 21"/>
          <p:cNvSpPr/>
          <p:nvPr/>
        </p:nvSpPr>
        <p:spPr>
          <a:xfrm>
            <a:off x="9690354" y="3337560"/>
            <a:ext cx="256032" cy="0"/>
          </a:xfrm>
          <a:prstGeom prst="line">
            <a:avLst/>
          </a:prstGeom>
          <a:noFill/>
          <a:ln w="25400">
            <a:solidFill>
              <a:srgbClr val="2DD4BF"/>
            </a:solidFill>
            <a:prstDash val="solid"/>
            <a:tailEnd type="triangle"/>
          </a:ln>
        </p:spPr>
      </p:sp>
      <p:sp>
        <p:nvSpPr>
          <p:cNvPr id="29" name="Shape 22"/>
          <p:cNvSpPr/>
          <p:nvPr/>
        </p:nvSpPr>
        <p:spPr>
          <a:xfrm>
            <a:off x="9946386" y="2377440"/>
            <a:ext cx="1605229" cy="1920240"/>
          </a:xfrm>
          <a:prstGeom prst="roundRect">
            <a:avLst>
              <a:gd name="adj" fmla="val 5696"/>
            </a:avLst>
          </a:prstGeom>
          <a:solidFill>
            <a:srgbClr val="0F766E"/>
          </a:solidFill>
          <a:ln/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10456393" y="2633472"/>
            <a:ext cx="585216" cy="585216"/>
          </a:xfrm>
          <a:prstGeom prst="ellipse">
            <a:avLst/>
          </a:prstGeom>
          <a:solidFill>
            <a:srgbClr val="111A2C"/>
          </a:solidFill>
          <a:ln/>
        </p:spPr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608549" y="2785628"/>
            <a:ext cx="280904" cy="280904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10037826" y="3429000"/>
            <a:ext cx="142234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 &amp; signal</a:t>
            </a:r>
            <a:endParaRPr lang="en-US" sz="1250" dirty="0"/>
          </a:p>
        </p:txBody>
      </p:sp>
      <p:sp>
        <p:nvSpPr>
          <p:cNvPr id="33" name="Text 25"/>
          <p:cNvSpPr/>
          <p:nvPr/>
        </p:nvSpPr>
        <p:spPr>
          <a:xfrm>
            <a:off x="11368735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C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generation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463040"/>
            <a:ext cx="566928" cy="566928"/>
          </a:xfrm>
          <a:prstGeom prst="ellipse">
            <a:avLst/>
          </a:prstGeom>
          <a:solidFill>
            <a:srgbClr val="111A2C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7481" y="1610441"/>
            <a:ext cx="272125" cy="27212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17320" y="1490472"/>
            <a:ext cx="5349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DD4B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Labeled without manual tagging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640080" y="2240280"/>
            <a:ext cx="61264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OHLC data pulled via yfinance across 13 tickers (NSE + US)</a:t>
            </a:r>
            <a:endParaRPr lang="en-US" sz="14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pattern has a precise mathematical rule (body/wick ratios)</a:t>
            </a:r>
            <a:endParaRPr lang="en-US" sz="14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Matching candle windows rendered as chart images with mplfinance</a:t>
            </a:r>
            <a:endParaRPr lang="en-US" sz="14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Randomly sampled to ~200 balanced images per class</a:t>
            </a:r>
            <a:endParaRPr lang="en-US" sz="1450" dirty="0"/>
          </a:p>
        </p:txBody>
      </p:sp>
      <p:sp>
        <p:nvSpPr>
          <p:cNvPr id="7" name="Shape 4"/>
          <p:cNvSpPr/>
          <p:nvPr/>
        </p:nvSpPr>
        <p:spPr>
          <a:xfrm>
            <a:off x="640080" y="4709160"/>
            <a:ext cx="6126480" cy="1051560"/>
          </a:xfrm>
          <a:prstGeom prst="roundRect">
            <a:avLst>
              <a:gd name="adj" fmla="val 8696"/>
            </a:avLst>
          </a:prstGeom>
          <a:solidFill>
            <a:srgbClr val="111A2C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14400" y="4709160"/>
            <a:ext cx="5577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C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rule — Doji:  </a:t>
            </a:r>
            <a:r>
              <a:rPr lang="en-US" sz="1500" b="1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body / range &lt; 0.1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7178040" y="1463040"/>
            <a:ext cx="4343400" cy="4709160"/>
          </a:xfrm>
          <a:prstGeom prst="roundRect">
            <a:avLst>
              <a:gd name="adj" fmla="val 2526"/>
            </a:avLst>
          </a:prstGeom>
          <a:solidFill>
            <a:srgbClr val="141B2D"/>
          </a:solidFill>
          <a:ln/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7178040" y="2286000"/>
            <a:ext cx="4343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800" b="1" dirty="0">
                <a:solidFill>
                  <a:srgbClr val="22C5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1,200</a:t>
            </a:r>
            <a:endParaRPr lang="en-US" sz="5800" dirty="0"/>
          </a:p>
        </p:txBody>
      </p:sp>
      <p:sp>
        <p:nvSpPr>
          <p:cNvPr id="11" name="Text 8"/>
          <p:cNvSpPr/>
          <p:nvPr/>
        </p:nvSpPr>
        <p:spPr>
          <a:xfrm>
            <a:off x="7452360" y="3291840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labeled chart images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7452360" y="3840480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7C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classes  ×  ~200 images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7726680" y="4434840"/>
            <a:ext cx="3246120" cy="0"/>
          </a:xfrm>
          <a:prstGeom prst="line">
            <a:avLst/>
          </a:prstGeom>
          <a:noFill/>
          <a:ln w="9525">
            <a:solidFill>
              <a:srgbClr val="0F766E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543800" y="4663440"/>
            <a:ext cx="3611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7C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6-candle window per image — pattern always in the last 1–2 candles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11368735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C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Preprocessing &amp; candlestick detection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40080" y="987552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C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Grayscale → threshold → noise removal → contour detection → body/wick split by row-width scan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91160" y="1399032"/>
            <a:ext cx="11009376" cy="2898110"/>
          </a:xfrm>
          <a:prstGeom prst="roundRect">
            <a:avLst>
              <a:gd name="adj" fmla="val 2524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pic>
        <p:nvPicPr>
          <p:cNvPr id="5" name="Image 0" descr="/mnt/user-data/uploads/preprocessing_test_outpu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2328" y="1600200"/>
            <a:ext cx="10607040" cy="249577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4617182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7C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output from the project's OpenCV pipeline, run on a generated Hammer sample.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11368735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C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 engineering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C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Pixel measurements are converted into scale-invariant ratios — the same style used to define the rules.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272888" cy="1234440"/>
          </a:xfrm>
          <a:prstGeom prst="roundRect">
            <a:avLst>
              <a:gd name="adj" fmla="val 7407"/>
            </a:avLst>
          </a:prstGeom>
          <a:solidFill>
            <a:srgbClr val="141B2D"/>
          </a:solidFill>
          <a:ln/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1947672"/>
            <a:ext cx="4724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body_ratio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14400" y="2350008"/>
            <a:ext cx="47242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body / range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278728" y="1783080"/>
            <a:ext cx="5272888" cy="1234440"/>
          </a:xfrm>
          <a:prstGeom prst="roundRect">
            <a:avLst>
              <a:gd name="adj" fmla="val 7407"/>
            </a:avLst>
          </a:prstGeom>
          <a:solidFill>
            <a:srgbClr val="141B2D"/>
          </a:solidFill>
          <a:ln/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553048" y="1947672"/>
            <a:ext cx="4724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upper_wick_ratio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553048" y="2350008"/>
            <a:ext cx="47242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upper_wick / range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3273552"/>
            <a:ext cx="5272888" cy="1234440"/>
          </a:xfrm>
          <a:prstGeom prst="roundRect">
            <a:avLst>
              <a:gd name="adj" fmla="val 7407"/>
            </a:avLst>
          </a:prstGeom>
          <a:solidFill>
            <a:srgbClr val="141B2D"/>
          </a:solidFill>
          <a:ln/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914400" y="3438144"/>
            <a:ext cx="4724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lower_wick_ratio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914400" y="3840480"/>
            <a:ext cx="47242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lower_wick / range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278728" y="3273552"/>
            <a:ext cx="5272888" cy="1234440"/>
          </a:xfrm>
          <a:prstGeom prst="roundRect">
            <a:avLst>
              <a:gd name="adj" fmla="val 7407"/>
            </a:avLst>
          </a:prstGeom>
          <a:solidFill>
            <a:srgbClr val="141B2D"/>
          </a:solidFill>
          <a:ln/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553048" y="3438144"/>
            <a:ext cx="4724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wick_to_body_ratio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553048" y="3840480"/>
            <a:ext cx="47242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(upper_wick + lower_wick) / body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40080" y="4901184"/>
            <a:ext cx="10911535" cy="868680"/>
          </a:xfrm>
          <a:prstGeom prst="roundRect">
            <a:avLst>
              <a:gd name="adj" fmla="val 10526"/>
            </a:avLst>
          </a:prstGeom>
          <a:solidFill>
            <a:srgbClr val="111A2C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4901184"/>
            <a:ext cx="103628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Computed for the </a:t>
            </a:r>
            <a:r>
              <a:rPr lang="en-US" sz="14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 two candles</a:t>
            </a: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 every image  →  a fixed </a:t>
            </a:r>
            <a:r>
              <a:rPr lang="en-US" sz="14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11-column feature vector</a:t>
            </a: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for all 6 classes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1368735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C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comparison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C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classical ML models trained on an 80/20 stratified split.</a:t>
            </a:r>
            <a:endParaRPr lang="en-US" sz="13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640080" y="1691640"/>
          <a:ext cx="10881360" cy="4480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 2"/>
          <p:cNvSpPr/>
          <p:nvPr/>
        </p:nvSpPr>
        <p:spPr>
          <a:xfrm>
            <a:off x="11368735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C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 &amp; key findings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554480"/>
            <a:ext cx="4023360" cy="4617720"/>
          </a:xfrm>
          <a:prstGeom prst="roundRect">
            <a:avLst>
              <a:gd name="adj" fmla="val 2727"/>
            </a:avLst>
          </a:prstGeom>
          <a:solidFill>
            <a:srgbClr val="141B2D"/>
          </a:solidFill>
          <a:ln/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2286000" y="1965960"/>
            <a:ext cx="731520" cy="731520"/>
          </a:xfrm>
          <a:prstGeom prst="ellipse">
            <a:avLst/>
          </a:prstGeom>
          <a:solidFill>
            <a:srgbClr val="111A2C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76195" y="2156155"/>
            <a:ext cx="351130" cy="35113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2926080"/>
            <a:ext cx="4023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22C5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96.3%</a:t>
            </a:r>
            <a:endParaRPr lang="en-US" sz="5200" dirty="0"/>
          </a:p>
        </p:txBody>
      </p:sp>
      <p:sp>
        <p:nvSpPr>
          <p:cNvPr id="7" name="Text 4"/>
          <p:cNvSpPr/>
          <p:nvPr/>
        </p:nvSpPr>
        <p:spPr>
          <a:xfrm>
            <a:off x="640080" y="384048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7C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F1-score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914400" y="443484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— final model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1005840" y="516636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7C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balance of accuracy, precision &amp; recall across all 4 models tested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937760" y="1554480"/>
            <a:ext cx="402336" cy="402336"/>
          </a:xfrm>
          <a:prstGeom prst="ellipse">
            <a:avLst/>
          </a:prstGeom>
          <a:solidFill>
            <a:srgbClr val="111A2C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42367" y="1659087"/>
            <a:ext cx="193121" cy="193121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532120" y="1499616"/>
            <a:ext cx="5989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Tree-based models outperformed SVM &amp; KNN — consistent with features engineered from threshold-based rules</a:t>
            </a:r>
            <a:endParaRPr lang="en-US" sz="1350" dirty="0"/>
          </a:p>
        </p:txBody>
      </p:sp>
      <p:sp>
        <p:nvSpPr>
          <p:cNvPr id="13" name="Shape 9"/>
          <p:cNvSpPr/>
          <p:nvPr/>
        </p:nvSpPr>
        <p:spPr>
          <a:xfrm>
            <a:off x="4937760" y="2670048"/>
            <a:ext cx="402336" cy="402336"/>
          </a:xfrm>
          <a:prstGeom prst="ellipse">
            <a:avLst/>
          </a:prstGeom>
          <a:solidFill>
            <a:srgbClr val="111A2C"/>
          </a:solidFill>
          <a:ln/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42367" y="2774655"/>
            <a:ext cx="193121" cy="193121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5532120" y="2615184"/>
            <a:ext cx="5989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Doji was the most-confused class, traced to pixel-measurement noise near its tight body-ratio boundary</a:t>
            </a:r>
            <a:endParaRPr lang="en-US" sz="1350" dirty="0"/>
          </a:p>
        </p:txBody>
      </p:sp>
      <p:sp>
        <p:nvSpPr>
          <p:cNvPr id="16" name="Shape 11"/>
          <p:cNvSpPr/>
          <p:nvPr/>
        </p:nvSpPr>
        <p:spPr>
          <a:xfrm>
            <a:off x="4937760" y="3785616"/>
            <a:ext cx="402336" cy="402336"/>
          </a:xfrm>
          <a:prstGeom prst="ellipse">
            <a:avLst/>
          </a:prstGeom>
          <a:solidFill>
            <a:srgbClr val="111A2C"/>
          </a:solidFill>
          <a:ln/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42367" y="3890223"/>
            <a:ext cx="193121" cy="193121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5532120" y="3730752"/>
            <a:ext cx="5989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Sub-2-second prediction latency confirmed via automated performance testing</a:t>
            </a:r>
            <a:endParaRPr lang="en-US" sz="1350" dirty="0"/>
          </a:p>
        </p:txBody>
      </p:sp>
      <p:sp>
        <p:nvSpPr>
          <p:cNvPr id="19" name="Shape 13"/>
          <p:cNvSpPr/>
          <p:nvPr/>
        </p:nvSpPr>
        <p:spPr>
          <a:xfrm>
            <a:off x="4937760" y="4901184"/>
            <a:ext cx="402336" cy="402336"/>
          </a:xfrm>
          <a:prstGeom prst="ellipse">
            <a:avLst/>
          </a:prstGeom>
          <a:solidFill>
            <a:srgbClr val="111A2C"/>
          </a:solidFill>
          <a:ln/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42367" y="5005791"/>
            <a:ext cx="193121" cy="193121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5532120" y="4846320"/>
            <a:ext cx="5989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handling verified: missing files, corrupted files &amp; blank images all fail safely with clear exceptions</a:t>
            </a:r>
            <a:endParaRPr lang="en-US" sz="1350" dirty="0"/>
          </a:p>
        </p:txBody>
      </p:sp>
      <p:sp>
        <p:nvSpPr>
          <p:cNvPr id="22" name="Text 15"/>
          <p:cNvSpPr/>
          <p:nvPr/>
        </p:nvSpPr>
        <p:spPr>
          <a:xfrm>
            <a:off x="11368735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C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9144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Prediction pipeline &amp; GUI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234440"/>
            <a:ext cx="3931920" cy="1005840"/>
          </a:xfrm>
          <a:prstGeom prst="roundRect">
            <a:avLst>
              <a:gd name="adj" fmla="val 9091"/>
            </a:avLst>
          </a:prstGeom>
          <a:solidFill>
            <a:srgbClr val="141B2D"/>
          </a:solidFill>
          <a:ln/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41248" y="1435608"/>
            <a:ext cx="603504" cy="603504"/>
          </a:xfrm>
          <a:prstGeom prst="ellipse">
            <a:avLst/>
          </a:prstGeom>
          <a:solidFill>
            <a:srgbClr val="111A2C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8159" y="1592519"/>
            <a:ext cx="289682" cy="28968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00200" y="1362456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chart image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600200" y="173736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C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screenshot input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640080" y="2468880"/>
            <a:ext cx="3931920" cy="1005840"/>
          </a:xfrm>
          <a:prstGeom prst="roundRect">
            <a:avLst>
              <a:gd name="adj" fmla="val 9091"/>
            </a:avLst>
          </a:prstGeom>
          <a:solidFill>
            <a:srgbClr val="141B2D"/>
          </a:solidFill>
          <a:ln/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841248" y="2670048"/>
            <a:ext cx="603504" cy="603504"/>
          </a:xfrm>
          <a:prstGeom prst="ellipse">
            <a:avLst/>
          </a:prstGeom>
          <a:solidFill>
            <a:srgbClr val="111A2C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8159" y="2826959"/>
            <a:ext cx="289682" cy="28968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600200" y="2596896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stock ticker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1600200" y="297180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C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Fetches latest data &amp; renders chart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640080" y="3840480"/>
            <a:ext cx="39319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7C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modes converge into the same detection + classification pipeline, then return: pattern, signal, and confidence.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4919472" y="1124712"/>
            <a:ext cx="6711696" cy="2907649"/>
          </a:xfrm>
          <a:prstGeom prst="roundRect">
            <a:avLst>
              <a:gd name="adj" fmla="val 2516"/>
            </a:avLst>
          </a:prstGeom>
          <a:solidFill>
            <a:srgbClr val="05070C"/>
          </a:solidFill>
          <a:ln w="12700">
            <a:solidFill>
              <a:srgbClr val="0F766E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pic>
        <p:nvPicPr>
          <p:cNvPr id="15" name="Image 2" descr="/home/claude/ppt/gui_screenshot_cropp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0" y="1234440"/>
            <a:ext cx="6492240" cy="2688193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5029200" y="4105513"/>
            <a:ext cx="6492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7C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Streamlit app — ticker mode</a:t>
            </a:r>
            <a:endParaRPr lang="en-US" sz="1150" dirty="0"/>
          </a:p>
        </p:txBody>
      </p:sp>
      <p:sp>
        <p:nvSpPr>
          <p:cNvPr id="17" name="Text 12"/>
          <p:cNvSpPr/>
          <p:nvPr/>
        </p:nvSpPr>
        <p:spPr>
          <a:xfrm>
            <a:off x="11368735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C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Testing &amp; validation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600200"/>
            <a:ext cx="502920" cy="502920"/>
          </a:xfrm>
          <a:prstGeom prst="ellipse">
            <a:avLst/>
          </a:prstGeom>
          <a:solidFill>
            <a:srgbClr val="111A2C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39" y="1730959"/>
            <a:ext cx="241402" cy="24140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325880" y="1581912"/>
            <a:ext cx="5806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tests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325880" y="1965960"/>
            <a:ext cx="5806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7C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Pattern-labeling rules verified against known geometric cases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640080" y="2697480"/>
            <a:ext cx="502920" cy="502920"/>
          </a:xfrm>
          <a:prstGeom prst="ellipse">
            <a:avLst/>
          </a:prstGeom>
          <a:solidFill>
            <a:srgbClr val="111A2C"/>
          </a:solidFill>
          <a:ln/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0839" y="2828239"/>
            <a:ext cx="241402" cy="24140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325880" y="2679192"/>
            <a:ext cx="5806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Consistency checks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1325880" y="3063240"/>
            <a:ext cx="5806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7C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Detected body + wicks always sum to the full candle range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640080" y="3794760"/>
            <a:ext cx="502920" cy="502920"/>
          </a:xfrm>
          <a:prstGeom prst="ellipse">
            <a:avLst/>
          </a:prstGeom>
          <a:solidFill>
            <a:srgbClr val="111A2C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0839" y="3925519"/>
            <a:ext cx="241402" cy="24140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325880" y="3776472"/>
            <a:ext cx="5806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cases</a:t>
            </a:r>
            <a:endParaRPr lang="en-US" sz="1500" dirty="0"/>
          </a:p>
        </p:txBody>
      </p:sp>
      <p:sp>
        <p:nvSpPr>
          <p:cNvPr id="14" name="Text 9"/>
          <p:cNvSpPr/>
          <p:nvPr/>
        </p:nvSpPr>
        <p:spPr>
          <a:xfrm>
            <a:off x="1325880" y="4160520"/>
            <a:ext cx="5806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7C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files, corrupted files &amp; blank images all fail safely</a:t>
            </a:r>
            <a:endParaRPr lang="en-US" sz="1250" dirty="0"/>
          </a:p>
        </p:txBody>
      </p:sp>
      <p:sp>
        <p:nvSpPr>
          <p:cNvPr id="15" name="Shape 10"/>
          <p:cNvSpPr/>
          <p:nvPr/>
        </p:nvSpPr>
        <p:spPr>
          <a:xfrm>
            <a:off x="640080" y="4892040"/>
            <a:ext cx="502920" cy="502920"/>
          </a:xfrm>
          <a:prstGeom prst="ellipse">
            <a:avLst/>
          </a:prstGeom>
          <a:solidFill>
            <a:srgbClr val="111A2C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0839" y="5022799"/>
            <a:ext cx="241402" cy="241402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325880" y="4873752"/>
            <a:ext cx="5806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</a:t>
            </a:r>
            <a:endParaRPr lang="en-US" sz="1500" dirty="0"/>
          </a:p>
        </p:txBody>
      </p:sp>
      <p:sp>
        <p:nvSpPr>
          <p:cNvPr id="18" name="Text 12"/>
          <p:cNvSpPr/>
          <p:nvPr/>
        </p:nvSpPr>
        <p:spPr>
          <a:xfrm>
            <a:off x="1325880" y="5257800"/>
            <a:ext cx="5806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7C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 latency confirmed under the 2-second target</a:t>
            </a:r>
            <a:endParaRPr lang="en-US" sz="1250" dirty="0"/>
          </a:p>
        </p:txBody>
      </p:sp>
      <p:sp>
        <p:nvSpPr>
          <p:cNvPr id="19" name="Shape 13"/>
          <p:cNvSpPr/>
          <p:nvPr/>
        </p:nvSpPr>
        <p:spPr>
          <a:xfrm>
            <a:off x="7680960" y="1600200"/>
            <a:ext cx="3840480" cy="4434840"/>
          </a:xfrm>
          <a:prstGeom prst="roundRect">
            <a:avLst>
              <a:gd name="adj" fmla="val 2857"/>
            </a:avLst>
          </a:prstGeom>
          <a:solidFill>
            <a:srgbClr val="141B2D"/>
          </a:solidFill>
          <a:ln/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0" name="Text 14"/>
          <p:cNvSpPr/>
          <p:nvPr/>
        </p:nvSpPr>
        <p:spPr>
          <a:xfrm>
            <a:off x="7680960" y="2971800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22C5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 / 15</a:t>
            </a:r>
            <a:endParaRPr lang="en-US" sz="4600" dirty="0"/>
          </a:p>
        </p:txBody>
      </p:sp>
      <p:sp>
        <p:nvSpPr>
          <p:cNvPr id="21" name="Text 15"/>
          <p:cNvSpPr/>
          <p:nvPr/>
        </p:nvSpPr>
        <p:spPr>
          <a:xfrm>
            <a:off x="7955280" y="388620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tests passing</a:t>
            </a:r>
            <a:endParaRPr lang="en-US" sz="1350" dirty="0"/>
          </a:p>
        </p:txBody>
      </p:sp>
      <p:sp>
        <p:nvSpPr>
          <p:cNvPr id="22" name="Text 16"/>
          <p:cNvSpPr/>
          <p:nvPr/>
        </p:nvSpPr>
        <p:spPr>
          <a:xfrm>
            <a:off x="8046720" y="4480560"/>
            <a:ext cx="310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7C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pytest suite covering rules, detection, edge cases &amp; latency</a:t>
            </a:r>
            <a:endParaRPr lang="en-US" sz="1150" dirty="0"/>
          </a:p>
        </p:txBody>
      </p:sp>
      <p:sp>
        <p:nvSpPr>
          <p:cNvPr id="23" name="Text 17"/>
          <p:cNvSpPr/>
          <p:nvPr/>
        </p:nvSpPr>
        <p:spPr>
          <a:xfrm>
            <a:off x="11368735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C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Limitations &amp; future scope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508760"/>
            <a:ext cx="5212080" cy="4709160"/>
          </a:xfrm>
          <a:prstGeom prst="roundRect">
            <a:avLst>
              <a:gd name="adj" fmla="val 2330"/>
            </a:avLst>
          </a:prstGeom>
          <a:solidFill>
            <a:srgbClr val="141B2D"/>
          </a:solidFill>
          <a:ln/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960120" y="1828800"/>
            <a:ext cx="502920" cy="502920"/>
          </a:xfrm>
          <a:prstGeom prst="ellipse">
            <a:avLst/>
          </a:prstGeom>
          <a:solidFill>
            <a:srgbClr val="111A2C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0879" y="1959559"/>
            <a:ext cx="241402" cy="24140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00200" y="1856232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F8717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Known limitations</a:t>
            </a:r>
            <a:endParaRPr lang="en-US" sz="1650" dirty="0"/>
          </a:p>
        </p:txBody>
      </p:sp>
      <p:sp>
        <p:nvSpPr>
          <p:cNvPr id="7" name="Text 4"/>
          <p:cNvSpPr/>
          <p:nvPr/>
        </p:nvSpPr>
        <p:spPr>
          <a:xfrm>
            <a:off x="1005840" y="2560320"/>
            <a:ext cx="448056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Assumes a light chart background — dark-themed screenshots invert the thresholding logic</a:t>
            </a:r>
            <a:endParaRPr lang="en-US" sz="13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Uploaded images should show ~6 candles at training-like zoom; full multi-month charts distort feature ratios</a:t>
            </a:r>
            <a:endParaRPr lang="en-US" sz="13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Ticker data reflects latest available prices, not live streaming ticks</a:t>
            </a:r>
            <a:endParaRPr lang="en-US" sz="13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 context (e.g. prior downtrend) is not yet considered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6293815" y="1508760"/>
            <a:ext cx="5349240" cy="4709160"/>
          </a:xfrm>
          <a:prstGeom prst="roundRect">
            <a:avLst>
              <a:gd name="adj" fmla="val 2330"/>
            </a:avLst>
          </a:prstGeom>
          <a:solidFill>
            <a:srgbClr val="141B2D"/>
          </a:solidFill>
          <a:ln/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6492240" y="1828800"/>
            <a:ext cx="502920" cy="502920"/>
          </a:xfrm>
          <a:prstGeom prst="ellipse">
            <a:avLst/>
          </a:prstGeom>
          <a:solidFill>
            <a:srgbClr val="111A2C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2999" y="1959559"/>
            <a:ext cx="241402" cy="24140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132320" y="1856232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22C5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scope</a:t>
            </a:r>
            <a:endParaRPr lang="en-US" sz="1650" dirty="0"/>
          </a:p>
        </p:txBody>
      </p:sp>
      <p:sp>
        <p:nvSpPr>
          <p:cNvPr id="12" name="Text 8"/>
          <p:cNvSpPr/>
          <p:nvPr/>
        </p:nvSpPr>
        <p:spPr>
          <a:xfrm>
            <a:off x="6537960" y="2560320"/>
            <a:ext cx="461772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background detection for light/dark themes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Trend-context awareness before classifying reversals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chatbot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Multi-candle patterns (Three White Soldiers, Morning/Evening Star)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against a CNN-based deep learning approach</a:t>
            </a:r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the library to cover 30+ candlestick formations</a:t>
            </a:r>
            <a:endParaRPr lang="en-US" sz="1300" dirty="0">
              <a:solidFill>
                <a:schemeClr val="bg1"/>
              </a:solidFill>
            </a:endParaRPr>
          </a:p>
        </p:txBody>
      </p:sp>
      <p:sp>
        <p:nvSpPr>
          <p:cNvPr id="13" name="Text 9"/>
          <p:cNvSpPr/>
          <p:nvPr/>
        </p:nvSpPr>
        <p:spPr>
          <a:xfrm>
            <a:off x="11368735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C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5422392"/>
            <a:ext cx="0" cy="658368"/>
          </a:xfrm>
          <a:prstGeom prst="line">
            <a:avLst/>
          </a:prstGeom>
          <a:noFill/>
          <a:ln w="15875">
            <a:solidFill>
              <a:srgbClr val="22C55E">
                <a:alpha val="2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83464" y="5532120"/>
            <a:ext cx="73152" cy="457200"/>
          </a:xfrm>
          <a:prstGeom prst="rect">
            <a:avLst/>
          </a:prstGeom>
          <a:solidFill>
            <a:srgbClr val="22C55E">
              <a:alpha val="2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18372" y="5148072"/>
            <a:ext cx="0" cy="932688"/>
          </a:xfrm>
          <a:prstGeom prst="line">
            <a:avLst/>
          </a:prstGeom>
          <a:noFill/>
          <a:ln w="15875">
            <a:solidFill>
              <a:srgbClr val="F87171">
                <a:alpha val="2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1796" y="5257800"/>
            <a:ext cx="73152" cy="731520"/>
          </a:xfrm>
          <a:prstGeom prst="rect">
            <a:avLst/>
          </a:prstGeom>
          <a:solidFill>
            <a:srgbClr val="F87171">
              <a:alpha val="22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116703" y="5559552"/>
            <a:ext cx="0" cy="521208"/>
          </a:xfrm>
          <a:prstGeom prst="line">
            <a:avLst/>
          </a:prstGeom>
          <a:noFill/>
          <a:ln w="15875">
            <a:solidFill>
              <a:srgbClr val="22C55E">
                <a:alpha val="22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80127" y="5669280"/>
            <a:ext cx="73152" cy="320040"/>
          </a:xfrm>
          <a:prstGeom prst="rect">
            <a:avLst/>
          </a:prstGeom>
          <a:solidFill>
            <a:srgbClr val="22C55E">
              <a:alpha val="22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515035" y="4965192"/>
            <a:ext cx="0" cy="1115568"/>
          </a:xfrm>
          <a:prstGeom prst="line">
            <a:avLst/>
          </a:prstGeom>
          <a:noFill/>
          <a:ln w="15875">
            <a:solidFill>
              <a:srgbClr val="F87171">
                <a:alpha val="22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478459" y="5074920"/>
            <a:ext cx="73152" cy="914400"/>
          </a:xfrm>
          <a:prstGeom prst="rect">
            <a:avLst/>
          </a:prstGeom>
          <a:solidFill>
            <a:srgbClr val="F87171">
              <a:alpha val="22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913366" y="5330952"/>
            <a:ext cx="0" cy="749808"/>
          </a:xfrm>
          <a:prstGeom prst="line">
            <a:avLst/>
          </a:prstGeom>
          <a:noFill/>
          <a:ln w="15875">
            <a:solidFill>
              <a:srgbClr val="22C55E">
                <a:alpha val="22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876790" y="5440680"/>
            <a:ext cx="73152" cy="548640"/>
          </a:xfrm>
          <a:prstGeom prst="rect">
            <a:avLst/>
          </a:prstGeom>
          <a:solidFill>
            <a:srgbClr val="22C55E">
              <a:alpha val="22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2311698" y="5056632"/>
            <a:ext cx="0" cy="1024128"/>
          </a:xfrm>
          <a:prstGeom prst="line">
            <a:avLst/>
          </a:prstGeom>
          <a:noFill/>
          <a:ln w="15875">
            <a:solidFill>
              <a:srgbClr val="F87171">
                <a:alpha val="22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275122" y="5166360"/>
            <a:ext cx="73152" cy="822960"/>
          </a:xfrm>
          <a:prstGeom prst="rect">
            <a:avLst/>
          </a:prstGeom>
          <a:solidFill>
            <a:srgbClr val="F87171">
              <a:alpha val="22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2710029" y="5468112"/>
            <a:ext cx="0" cy="612648"/>
          </a:xfrm>
          <a:prstGeom prst="line">
            <a:avLst/>
          </a:prstGeom>
          <a:noFill/>
          <a:ln w="15875">
            <a:solidFill>
              <a:srgbClr val="22C55E">
                <a:alpha val="22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673453" y="5577840"/>
            <a:ext cx="73152" cy="411480"/>
          </a:xfrm>
          <a:prstGeom prst="rect">
            <a:avLst/>
          </a:prstGeom>
          <a:solidFill>
            <a:srgbClr val="22C55E">
              <a:alpha val="22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3108361" y="5239512"/>
            <a:ext cx="0" cy="841248"/>
          </a:xfrm>
          <a:prstGeom prst="line">
            <a:avLst/>
          </a:prstGeom>
          <a:noFill/>
          <a:ln w="15875">
            <a:solidFill>
              <a:srgbClr val="F87171">
                <a:alpha val="22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071785" y="5349240"/>
            <a:ext cx="73152" cy="640080"/>
          </a:xfrm>
          <a:prstGeom prst="rect">
            <a:avLst/>
          </a:prstGeom>
          <a:solidFill>
            <a:srgbClr val="F87171">
              <a:alpha val="22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3506692" y="4873752"/>
            <a:ext cx="0" cy="1207008"/>
          </a:xfrm>
          <a:prstGeom prst="line">
            <a:avLst/>
          </a:prstGeom>
          <a:noFill/>
          <a:ln w="15875">
            <a:solidFill>
              <a:srgbClr val="22C55E">
                <a:alpha val="22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470116" y="4983480"/>
            <a:ext cx="73152" cy="1005840"/>
          </a:xfrm>
          <a:prstGeom prst="rect">
            <a:avLst/>
          </a:prstGeom>
          <a:solidFill>
            <a:srgbClr val="22C55E">
              <a:alpha val="22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3905024" y="5376672"/>
            <a:ext cx="0" cy="704088"/>
          </a:xfrm>
          <a:prstGeom prst="line">
            <a:avLst/>
          </a:prstGeom>
          <a:noFill/>
          <a:ln w="15875">
            <a:solidFill>
              <a:srgbClr val="F87171">
                <a:alpha val="22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868448" y="5486400"/>
            <a:ext cx="73152" cy="502920"/>
          </a:xfrm>
          <a:prstGeom prst="rect">
            <a:avLst/>
          </a:prstGeom>
          <a:solidFill>
            <a:srgbClr val="F87171">
              <a:alpha val="22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4303356" y="5102352"/>
            <a:ext cx="0" cy="978408"/>
          </a:xfrm>
          <a:prstGeom prst="line">
            <a:avLst/>
          </a:prstGeom>
          <a:noFill/>
          <a:ln w="15875">
            <a:solidFill>
              <a:srgbClr val="22C55E">
                <a:alpha val="22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266780" y="5212080"/>
            <a:ext cx="73152" cy="777240"/>
          </a:xfrm>
          <a:prstGeom prst="rect">
            <a:avLst/>
          </a:prstGeom>
          <a:solidFill>
            <a:srgbClr val="22C55E">
              <a:alpha val="22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4701687" y="5513832"/>
            <a:ext cx="0" cy="566928"/>
          </a:xfrm>
          <a:prstGeom prst="line">
            <a:avLst/>
          </a:prstGeom>
          <a:noFill/>
          <a:ln w="15875">
            <a:solidFill>
              <a:srgbClr val="F87171">
                <a:alpha val="22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665111" y="5623560"/>
            <a:ext cx="73152" cy="365760"/>
          </a:xfrm>
          <a:prstGeom prst="rect">
            <a:avLst/>
          </a:prstGeom>
          <a:solidFill>
            <a:srgbClr val="F87171">
              <a:alpha val="22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5100019" y="5010912"/>
            <a:ext cx="0" cy="1069848"/>
          </a:xfrm>
          <a:prstGeom prst="line">
            <a:avLst/>
          </a:prstGeom>
          <a:noFill/>
          <a:ln w="15875">
            <a:solidFill>
              <a:srgbClr val="22C55E">
                <a:alpha val="22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063443" y="5120640"/>
            <a:ext cx="73152" cy="868680"/>
          </a:xfrm>
          <a:prstGeom prst="rect">
            <a:avLst/>
          </a:prstGeom>
          <a:solidFill>
            <a:srgbClr val="22C55E">
              <a:alpha val="22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5498350" y="5330952"/>
            <a:ext cx="0" cy="749808"/>
          </a:xfrm>
          <a:prstGeom prst="line">
            <a:avLst/>
          </a:prstGeom>
          <a:noFill/>
          <a:ln w="15875">
            <a:solidFill>
              <a:srgbClr val="F87171">
                <a:alpha val="22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461774" y="5440680"/>
            <a:ext cx="73152" cy="548640"/>
          </a:xfrm>
          <a:prstGeom prst="rect">
            <a:avLst/>
          </a:prstGeom>
          <a:solidFill>
            <a:srgbClr val="F87171">
              <a:alpha val="22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5896682" y="5193792"/>
            <a:ext cx="0" cy="886968"/>
          </a:xfrm>
          <a:prstGeom prst="line">
            <a:avLst/>
          </a:prstGeom>
          <a:noFill/>
          <a:ln w="15875">
            <a:solidFill>
              <a:srgbClr val="22C55E">
                <a:alpha val="22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860106" y="5303520"/>
            <a:ext cx="73152" cy="685800"/>
          </a:xfrm>
          <a:prstGeom prst="rect">
            <a:avLst/>
          </a:prstGeom>
          <a:solidFill>
            <a:srgbClr val="22C55E">
              <a:alpha val="22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6295013" y="5422392"/>
            <a:ext cx="0" cy="658368"/>
          </a:xfrm>
          <a:prstGeom prst="line">
            <a:avLst/>
          </a:prstGeom>
          <a:noFill/>
          <a:ln w="15875">
            <a:solidFill>
              <a:srgbClr val="F87171">
                <a:alpha val="22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258437" y="5532120"/>
            <a:ext cx="73152" cy="457200"/>
          </a:xfrm>
          <a:prstGeom prst="rect">
            <a:avLst/>
          </a:prstGeom>
          <a:solidFill>
            <a:srgbClr val="F87171">
              <a:alpha val="22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6693345" y="4965192"/>
            <a:ext cx="0" cy="1115568"/>
          </a:xfrm>
          <a:prstGeom prst="line">
            <a:avLst/>
          </a:prstGeom>
          <a:noFill/>
          <a:ln w="15875">
            <a:solidFill>
              <a:srgbClr val="22C55E">
                <a:alpha val="22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656769" y="5074920"/>
            <a:ext cx="73152" cy="914400"/>
          </a:xfrm>
          <a:prstGeom prst="rect">
            <a:avLst/>
          </a:prstGeom>
          <a:solidFill>
            <a:srgbClr val="22C55E">
              <a:alpha val="22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7091676" y="5285232"/>
            <a:ext cx="0" cy="795528"/>
          </a:xfrm>
          <a:prstGeom prst="line">
            <a:avLst/>
          </a:prstGeom>
          <a:noFill/>
          <a:ln w="15875">
            <a:solidFill>
              <a:srgbClr val="F87171">
                <a:alpha val="22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055100" y="5394960"/>
            <a:ext cx="73152" cy="594360"/>
          </a:xfrm>
          <a:prstGeom prst="rect">
            <a:avLst/>
          </a:prstGeom>
          <a:solidFill>
            <a:srgbClr val="F87171">
              <a:alpha val="22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7490008" y="5148072"/>
            <a:ext cx="0" cy="932688"/>
          </a:xfrm>
          <a:prstGeom prst="line">
            <a:avLst/>
          </a:prstGeom>
          <a:noFill/>
          <a:ln w="15875">
            <a:solidFill>
              <a:srgbClr val="22C55E">
                <a:alpha val="22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7453432" y="5257800"/>
            <a:ext cx="73152" cy="731520"/>
          </a:xfrm>
          <a:prstGeom prst="rect">
            <a:avLst/>
          </a:prstGeom>
          <a:solidFill>
            <a:srgbClr val="22C55E">
              <a:alpha val="22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7888340" y="5513832"/>
            <a:ext cx="0" cy="566928"/>
          </a:xfrm>
          <a:prstGeom prst="line">
            <a:avLst/>
          </a:prstGeom>
          <a:noFill/>
          <a:ln w="15875">
            <a:solidFill>
              <a:srgbClr val="F87171">
                <a:alpha val="22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7851764" y="5623560"/>
            <a:ext cx="73152" cy="365760"/>
          </a:xfrm>
          <a:prstGeom prst="rect">
            <a:avLst/>
          </a:prstGeom>
          <a:solidFill>
            <a:srgbClr val="F87171">
              <a:alpha val="22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8286671" y="5056632"/>
            <a:ext cx="0" cy="1024128"/>
          </a:xfrm>
          <a:prstGeom prst="line">
            <a:avLst/>
          </a:prstGeom>
          <a:noFill/>
          <a:ln w="15875">
            <a:solidFill>
              <a:srgbClr val="22C55E">
                <a:alpha val="2200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8250095" y="5166360"/>
            <a:ext cx="73152" cy="822960"/>
          </a:xfrm>
          <a:prstGeom prst="rect">
            <a:avLst/>
          </a:prstGeom>
          <a:solidFill>
            <a:srgbClr val="22C55E">
              <a:alpha val="22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8685003" y="5376672"/>
            <a:ext cx="0" cy="704088"/>
          </a:xfrm>
          <a:prstGeom prst="line">
            <a:avLst/>
          </a:prstGeom>
          <a:noFill/>
          <a:ln w="15875">
            <a:solidFill>
              <a:srgbClr val="F87171">
                <a:alpha val="2200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8648427" y="5486400"/>
            <a:ext cx="73152" cy="502920"/>
          </a:xfrm>
          <a:prstGeom prst="rect">
            <a:avLst/>
          </a:prstGeom>
          <a:solidFill>
            <a:srgbClr val="F87171">
              <a:alpha val="22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9083334" y="5239512"/>
            <a:ext cx="0" cy="841248"/>
          </a:xfrm>
          <a:prstGeom prst="line">
            <a:avLst/>
          </a:prstGeom>
          <a:noFill/>
          <a:ln w="15875">
            <a:solidFill>
              <a:srgbClr val="22C55E">
                <a:alpha val="2200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9046758" y="5349240"/>
            <a:ext cx="73152" cy="640080"/>
          </a:xfrm>
          <a:prstGeom prst="rect">
            <a:avLst/>
          </a:prstGeom>
          <a:solidFill>
            <a:srgbClr val="22C55E">
              <a:alpha val="22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9481666" y="4919472"/>
            <a:ext cx="0" cy="1161288"/>
          </a:xfrm>
          <a:prstGeom prst="line">
            <a:avLst/>
          </a:prstGeom>
          <a:noFill/>
          <a:ln w="15875">
            <a:solidFill>
              <a:srgbClr val="F87171">
                <a:alpha val="22000"/>
              </a:srgbClr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9445090" y="5029200"/>
            <a:ext cx="73152" cy="960120"/>
          </a:xfrm>
          <a:prstGeom prst="rect">
            <a:avLst/>
          </a:prstGeom>
          <a:solidFill>
            <a:srgbClr val="F87171">
              <a:alpha val="22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9879997" y="5468112"/>
            <a:ext cx="0" cy="612648"/>
          </a:xfrm>
          <a:prstGeom prst="line">
            <a:avLst/>
          </a:prstGeom>
          <a:noFill/>
          <a:ln w="15875">
            <a:solidFill>
              <a:srgbClr val="22C55E">
                <a:alpha val="22000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9843421" y="5577840"/>
            <a:ext cx="73152" cy="411480"/>
          </a:xfrm>
          <a:prstGeom prst="rect">
            <a:avLst/>
          </a:prstGeom>
          <a:solidFill>
            <a:srgbClr val="22C55E">
              <a:alpha val="22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10278329" y="5102352"/>
            <a:ext cx="0" cy="978408"/>
          </a:xfrm>
          <a:prstGeom prst="line">
            <a:avLst/>
          </a:prstGeom>
          <a:noFill/>
          <a:ln w="15875">
            <a:solidFill>
              <a:srgbClr val="F87171">
                <a:alpha val="22000"/>
              </a:srgbClr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10241753" y="5212080"/>
            <a:ext cx="73152" cy="777240"/>
          </a:xfrm>
          <a:prstGeom prst="rect">
            <a:avLst/>
          </a:prstGeom>
          <a:solidFill>
            <a:srgbClr val="F87171">
              <a:alpha val="22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10676661" y="5330952"/>
            <a:ext cx="0" cy="749808"/>
          </a:xfrm>
          <a:prstGeom prst="line">
            <a:avLst/>
          </a:prstGeom>
          <a:noFill/>
          <a:ln w="15875">
            <a:solidFill>
              <a:srgbClr val="22C55E">
                <a:alpha val="22000"/>
              </a:srgbClr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10640085" y="5440680"/>
            <a:ext cx="73152" cy="548640"/>
          </a:xfrm>
          <a:prstGeom prst="rect">
            <a:avLst/>
          </a:prstGeom>
          <a:solidFill>
            <a:srgbClr val="22C55E">
              <a:alpha val="22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11074992" y="5193792"/>
            <a:ext cx="0" cy="886968"/>
          </a:xfrm>
          <a:prstGeom prst="line">
            <a:avLst/>
          </a:prstGeom>
          <a:noFill/>
          <a:ln w="15875">
            <a:solidFill>
              <a:srgbClr val="F87171">
                <a:alpha val="22000"/>
              </a:srgbClr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1038416" y="5303520"/>
            <a:ext cx="73152" cy="685800"/>
          </a:xfrm>
          <a:prstGeom prst="rect">
            <a:avLst/>
          </a:prstGeom>
          <a:solidFill>
            <a:srgbClr val="F87171">
              <a:alpha val="22000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11473324" y="5422392"/>
            <a:ext cx="0" cy="658368"/>
          </a:xfrm>
          <a:prstGeom prst="line">
            <a:avLst/>
          </a:prstGeom>
          <a:noFill/>
          <a:ln w="15875">
            <a:solidFill>
              <a:srgbClr val="22C55E">
                <a:alpha val="22000"/>
              </a:srgbClr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11436748" y="5532120"/>
            <a:ext cx="73152" cy="457200"/>
          </a:xfrm>
          <a:prstGeom prst="rect">
            <a:avLst/>
          </a:prstGeom>
          <a:solidFill>
            <a:srgbClr val="22C55E">
              <a:alpha val="22000"/>
            </a:srgbClr>
          </a:solidFill>
          <a:ln/>
        </p:spPr>
      </p:sp>
      <p:sp>
        <p:nvSpPr>
          <p:cNvPr id="60" name="Shape 58"/>
          <p:cNvSpPr/>
          <p:nvPr/>
        </p:nvSpPr>
        <p:spPr>
          <a:xfrm>
            <a:off x="11871655" y="5056632"/>
            <a:ext cx="0" cy="1024128"/>
          </a:xfrm>
          <a:prstGeom prst="line">
            <a:avLst/>
          </a:prstGeom>
          <a:noFill/>
          <a:ln w="15875">
            <a:solidFill>
              <a:srgbClr val="F87171">
                <a:alpha val="22000"/>
              </a:srgbClr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11835079" y="5166360"/>
            <a:ext cx="73152" cy="822960"/>
          </a:xfrm>
          <a:prstGeom prst="rect">
            <a:avLst/>
          </a:prstGeom>
          <a:solidFill>
            <a:srgbClr val="F87171">
              <a:alpha val="22000"/>
            </a:srgbClr>
          </a:solidFill>
          <a:ln/>
        </p:spPr>
      </p:sp>
      <p:sp>
        <p:nvSpPr>
          <p:cNvPr id="62" name="Text 60"/>
          <p:cNvSpPr/>
          <p:nvPr/>
        </p:nvSpPr>
        <p:spPr>
          <a:xfrm>
            <a:off x="0" y="1965960"/>
            <a:ext cx="1219169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600" dirty="0"/>
          </a:p>
        </p:txBody>
      </p:sp>
      <p:sp>
        <p:nvSpPr>
          <p:cNvPr id="63" name="Text 61"/>
          <p:cNvSpPr/>
          <p:nvPr/>
        </p:nvSpPr>
        <p:spPr>
          <a:xfrm>
            <a:off x="1371600" y="2926080"/>
            <a:ext cx="94484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complete Computer Vision + Machine Learning pipeline — from rule-based labeling to a deployed, tested application.</a:t>
            </a:r>
            <a:endParaRPr lang="en-US" sz="1500" dirty="0"/>
          </a:p>
        </p:txBody>
      </p:sp>
      <p:sp>
        <p:nvSpPr>
          <p:cNvPr id="64" name="Text 62"/>
          <p:cNvSpPr/>
          <p:nvPr/>
        </p:nvSpPr>
        <p:spPr>
          <a:xfrm>
            <a:off x="0" y="3749040"/>
            <a:ext cx="121916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1800" dirty="0"/>
          </a:p>
        </p:txBody>
      </p:sp>
      <p:sp>
        <p:nvSpPr>
          <p:cNvPr id="65" name="Text 63"/>
          <p:cNvSpPr/>
          <p:nvPr/>
        </p:nvSpPr>
        <p:spPr>
          <a:xfrm>
            <a:off x="11368735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C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3386</TotalTime>
  <Words>898</Words>
  <Application>Microsoft Office PowerPoint</Application>
  <PresentationFormat>Widescreen</PresentationFormat>
  <Paragraphs>186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Arial</vt:lpstr>
      <vt:lpstr>Calibri</vt:lpstr>
      <vt:lpstr>Cambria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Candlestick Pattern Recognition</dc:title>
  <dc:subject>PptxGenJS Presentation</dc:subject>
  <dc:creator>Summer Training Project</dc:creator>
  <cp:lastModifiedBy>Milroman Singh</cp:lastModifiedBy>
  <cp:revision>5</cp:revision>
  <dcterms:created xsi:type="dcterms:W3CDTF">2026-07-08T09:35:21Z</dcterms:created>
  <dcterms:modified xsi:type="dcterms:W3CDTF">2026-07-11T15:33:05Z</dcterms:modified>
</cp:coreProperties>
</file>